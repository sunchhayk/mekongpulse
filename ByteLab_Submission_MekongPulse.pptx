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fb085bff3c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fb085bff3c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fb085bff3c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fb085bff3c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fb085bff3c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fb085bff3c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fb085bff3c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fb085bff3c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fb085bff3c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fb085bff3c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fb085bff3c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fb085bff3c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fb085bff3c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fb085bff3c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fb085bff3c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fb085bff3c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fb085bff3c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fb085bff3c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fb085bff3c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fb085bff3c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fb085bff3c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fb085bff3c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fb085bff3c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fb085bff3c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b085bff3c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b085bff3c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fb085bff3c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fb085bff3c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fb085bff3c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fb085bff3c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146600" y="2902694"/>
            <a:ext cx="8760000" cy="200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defRPr sz="1800" b="1">
                <a:solidFill>
                  <a:srgbClr val="213A63"/>
                </a:solidFill>
                <a:latin typeface="Google Sans Flex"/>
              </a:defRPr>
            </a:pPr>
            <a:r>
              <a:t>Team Details</a:t>
            </a:r>
            <a:endParaRPr sz="2100">
              <a:latin typeface="Google Sans Flex SemiBold"/>
              <a:ea typeface="Google Sans Flex SemiBold"/>
              <a:cs typeface="Google Sans Flex SemiBold"/>
              <a:sym typeface="Google Sans Flex SemiBold"/>
            </a:endParaRPr>
          </a:p>
          <a:p>
            <a:pPr>
              <a:defRPr sz="1200" b="1">
                <a:solidFill>
                  <a:srgbClr val="0F172A"/>
                </a:solidFill>
                <a:latin typeface="Google Sans Flex"/>
              </a:defRPr>
            </a:pPr>
            <a:r>
              <a:t>Team Name: ByteLab</a:t>
            </a:r>
          </a:p>
          <a:p>
            <a:pPr>
              <a:defRPr sz="1200" b="1">
                <a:solidFill>
                  <a:srgbClr val="0F172A"/>
                </a:solidFill>
                <a:latin typeface="Google Sans Flex"/>
              </a:defRPr>
            </a:pPr>
            <a:r>
              <a:t>Team Leader: Solita Pun</a:t>
            </a:r>
          </a:p>
          <a:p>
            <a:pPr>
              <a:defRPr sz="1100">
                <a:solidFill>
                  <a:srgbClr val="0284C7"/>
                </a:solidFill>
                <a:latin typeface="Google Sans Flex"/>
              </a:defRPr>
            </a:pPr>
            <a:r>
              <a:t>Competition Track: AI Builder Cup 2026 (JAPAC) · Sustainability &amp; Social Impact</a:t>
            </a:r>
          </a:p>
          <a:p>
            <a:br/>
            <a:pPr>
              <a:defRPr sz="1200" b="1">
                <a:solidFill>
                  <a:srgbClr val="213A63"/>
                </a:solidFill>
                <a:latin typeface="Google Sans Flex"/>
              </a:defRPr>
            </a:pPr>
            <a:r>
              <a:t>Problem Statement:</a:t>
            </a:r>
          </a:p>
          <a:p>
            <a:pPr>
              <a:defRPr sz="950">
                <a:solidFill>
                  <a:srgbClr val="475569"/>
                </a:solidFill>
                <a:latin typeface="Google Sans Flex"/>
              </a:defRPr>
            </a:pPr>
            <a:r>
              <a:t>In Cambodia's Lower Mekong Basin, seasonal floods devastate over 150,000 hectares of farmland annually, threatening smallholders with severe crop loss and debt-driven land forfeiture. While the Mekong River Commission (MRC) and Google Flood Hub publish riverine water elevations in meters, these raw numbers fail to reach rural farmers in an actionable format: they lack field-level flood arrival timing, growth-stage agronomic context (e.g., accelerating harvest for ripening rice vs. holding fertilizer on tillering rice), and vernacular voice delivery for low-literacy communities. MekongPulse bridges this last-mile gap by translating live hydrological telemetry into hyper-local, stage-specific crop preservation directives, delivered as natural spoken Khmer audio bulletins and an interactive command console for commune officials.</a:t>
            </a:r>
          </a:p>
        </p:txBody>
      </p:sp>
      <p:pic>
        <p:nvPicPr>
          <p:cNvPr id="55" name="Google Shape;55;p13" title="Frame 144.png"/>
          <p:cNvPicPr preferRelativeResize="0"/>
          <p:nvPr/>
        </p:nvPicPr>
        <p:blipFill>
          <a:blip r:embed="rId3">
            <a:alphaModFix/>
          </a:blip>
          <a:stretch>
            <a:fillRect/>
          </a:stretch>
        </p:blipFill>
        <p:spPr>
          <a:xfrm>
            <a:off x="0" y="-3"/>
            <a:ext cx="9144000" cy="2715526"/>
          </a:xfrm>
          <a:prstGeom prst="rect">
            <a:avLst/>
          </a:prstGeom>
          <a:noFill/>
          <a:ln>
            <a:noFill/>
          </a:ln>
        </p:spPr>
      </p:pic>
      <p:pic>
        <p:nvPicPr>
          <p:cNvPr id="56" name="Google Shape;56;p13" title="Frame 144.png"/>
          <p:cNvPicPr preferRelativeResize="0"/>
          <p:nvPr/>
        </p:nvPicPr>
        <p:blipFill rotWithShape="1">
          <a:blip r:embed="rId4">
            <a:alphaModFix/>
          </a:blip>
          <a:srcRect b="98001" l="0" r="0" t="0"/>
          <a:stretch/>
        </p:blipFill>
        <p:spPr>
          <a:xfrm>
            <a:off x="0" y="5093562"/>
            <a:ext cx="9144000" cy="542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pic>
        <p:nvPicPr>
          <p:cNvPr id="61" name="Google Shape;61;p14"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sp>
        <p:nvSpPr>
          <p:cNvPr id="62" name="Google Shape;62;p14"/>
          <p:cNvSpPr/>
          <p:nvPr/>
        </p:nvSpPr>
        <p:spPr>
          <a:xfrm>
            <a:off x="0" y="0"/>
            <a:ext cx="914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 name="Google Shape;63;p14"/>
          <p:cNvSpPr txBox="1"/>
          <p:nvPr/>
        </p:nvSpPr>
        <p:spPr>
          <a:xfrm>
            <a:off x="5092475" y="1968750"/>
            <a:ext cx="3311400" cy="120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100">
                <a:solidFill>
                  <a:schemeClr val="lt1"/>
                </a:solidFill>
                <a:latin typeface="Google Sans Flex Medium"/>
                <a:ea typeface="Google Sans Flex Medium"/>
                <a:cs typeface="Google Sans Flex Medium"/>
                <a:sym typeface="Google Sans Flex Medium"/>
              </a:rPr>
              <a:t>Note:</a:t>
            </a:r>
            <a:r>
              <a:rPr lang="en-GB" sz="1100">
                <a:solidFill>
                  <a:schemeClr val="lt1"/>
                </a:solidFill>
                <a:latin typeface="Google Sans Flex"/>
                <a:ea typeface="Google Sans Flex"/>
                <a:cs typeface="Google Sans Flex"/>
                <a:sym typeface="Google Sans Flex"/>
              </a:rPr>
              <a:t> Please download this template to make your edits and submit the final version.</a:t>
            </a:r>
            <a:br>
              <a:rPr lang="en-GB" sz="1100">
                <a:solidFill>
                  <a:schemeClr val="lt1"/>
                </a:solidFill>
                <a:latin typeface="Google Sans Flex"/>
                <a:ea typeface="Google Sans Flex"/>
                <a:cs typeface="Google Sans Flex"/>
                <a:sym typeface="Google Sans Flex"/>
              </a:rPr>
            </a:br>
            <a:br>
              <a:rPr lang="en-GB" sz="1100">
                <a:solidFill>
                  <a:schemeClr val="lt1"/>
                </a:solidFill>
                <a:latin typeface="Google Sans Flex"/>
                <a:ea typeface="Google Sans Flex"/>
                <a:cs typeface="Google Sans Flex"/>
                <a:sym typeface="Google Sans Flex"/>
              </a:rPr>
            </a:br>
            <a:r>
              <a:rPr lang="en-GB" sz="1100">
                <a:solidFill>
                  <a:schemeClr val="lt1"/>
                </a:solidFill>
                <a:latin typeface="Google Sans Flex"/>
                <a:ea typeface="Google Sans Flex"/>
                <a:cs typeface="Google Sans Flex"/>
                <a:sym typeface="Google Sans Flex"/>
              </a:rPr>
              <a:t>To download, go to File &gt; Download &gt; Microsoft PowerPoint (.PPTX). Kindly refrain from sending edit requests.</a:t>
            </a:r>
            <a:endParaRPr sz="1100">
              <a:solidFill>
                <a:schemeClr val="lt1"/>
              </a:solidFill>
              <a:latin typeface="Google Sans Flex"/>
              <a:ea typeface="Google Sans Flex"/>
              <a:cs typeface="Google Sans Flex"/>
              <a:sym typeface="Google Sans Flex"/>
            </a:endParaRPr>
          </a:p>
          <a:p>
            <a:pPr indent="0" lvl="0" marL="0" rtl="0" algn="l">
              <a:spcBef>
                <a:spcPts val="0"/>
              </a:spcBef>
              <a:spcAft>
                <a:spcPts val="0"/>
              </a:spcAft>
              <a:buNone/>
            </a:pPr>
            <a:r>
              <a:t/>
            </a:r>
            <a:endParaRPr sz="1100">
              <a:solidFill>
                <a:schemeClr val="lt1"/>
              </a:solidFill>
              <a:latin typeface="Google Sans Flex"/>
              <a:ea typeface="Google Sans Flex"/>
              <a:cs typeface="Google Sans Flex"/>
              <a:sym typeface="Google Sans Flex"/>
            </a:endParaRPr>
          </a:p>
        </p:txBody>
      </p:sp>
      <p:sp>
        <p:nvSpPr>
          <p:cNvPr id="64" name="Rounded Rectangle 63"/>
          <p:cNvSpPr/>
          <p:nvPr/>
        </p:nvSpPr>
        <p:spPr>
          <a:xfrm>
            <a:off x="731520" y="1371600"/>
            <a:ext cx="7680960" cy="2560320"/>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213A63"/>
                </a:solidFill>
                <a:latin typeface="Google Sans Flex"/>
              </a:defRPr>
            </a:pPr>
            <a:r>
              <a:t>MekongPulse Project Submission</a:t>
            </a:r>
          </a:p>
          <a:p>
            <a:pPr>
              <a:defRPr sz="1100">
                <a:solidFill>
                  <a:srgbClr val="475569"/>
                </a:solidFill>
                <a:latin typeface="Google Sans Flex"/>
              </a:defRPr>
            </a:pPr>
            <a:r>
              <a:t>• Track: Google Cloud AI Builder Cup 2026 (JAPAC) — Sustainability &amp; Social Impact.</a:t>
            </a:r>
          </a:p>
          <a:p>
            <a:pPr>
              <a:defRPr sz="1100">
                <a:solidFill>
                  <a:srgbClr val="475569"/>
                </a:solidFill>
                <a:latin typeface="Google Sans Flex"/>
              </a:defRPr>
            </a:pPr>
            <a:r>
              <a:t>• Team: ByteLab · Lead: Solita Pun · Verified GitHub Repository &amp; Live Public Deployments.</a:t>
            </a:r>
          </a:p>
          <a:p>
            <a:pPr>
              <a:defRPr sz="1100">
                <a:solidFill>
                  <a:srgbClr val="475569"/>
                </a:solidFill>
                <a:latin typeface="Google Sans Flex"/>
              </a:defRPr>
            </a:pPr>
            <a:r>
              <a:t>• Core Deliverable: Autonomous early-warning and agronomic preservation platform for 1,661 Cambodian communes.</a:t>
            </a:r>
          </a:p>
          <a:p>
            <a:pPr>
              <a:defRPr sz="1100">
                <a:solidFill>
                  <a:srgbClr val="475569"/>
                </a:solidFill>
                <a:latin typeface="Google Sans Flex"/>
              </a:defRPr>
            </a:pPr>
            <a:r>
              <a:t>• Production Status: 267 green tests passing, sub-millisecond spatial reasoner, live Gemini 3.8 Flash &amp; TTS integration.</a:t>
            </a:r>
          </a:p>
          <a:p>
            <a:pPr>
              <a:defRPr sz="1100">
                <a:solidFill>
                  <a:srgbClr val="475569"/>
                </a:solidFill>
                <a:latin typeface="Google Sans Flex"/>
              </a:defRPr>
            </a:pPr>
            <a:r>
              <a:t>• Official Deployments: Web Console on Firebase Hosting, API Container on Cloud Run architecture.</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pic>
        <p:nvPicPr>
          <p:cNvPr id="69" name="Google Shape;69;p15" title="Group 427319979.png"/>
          <p:cNvPicPr preferRelativeResize="0"/>
          <p:nvPr/>
        </p:nvPicPr>
        <p:blipFill>
          <a:blip r:embed="rId3">
            <a:alphaModFix/>
          </a:blip>
          <a:stretch>
            <a:fillRect/>
          </a:stretch>
        </p:blipFill>
        <p:spPr>
          <a:xfrm>
            <a:off x="0" y="1"/>
            <a:ext cx="9144000" cy="507359"/>
          </a:xfrm>
          <a:prstGeom prst="rect">
            <a:avLst/>
          </a:prstGeom>
          <a:noFill/>
          <a:ln>
            <a:noFill/>
          </a:ln>
        </p:spPr>
      </p:pic>
      <p:sp>
        <p:nvSpPr>
          <p:cNvPr id="70" name="Google Shape;70;p15"/>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 name="Google Shape;71;p15"/>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Brief about the idea</a:t>
            </a:r>
            <a:endParaRPr sz="1600">
              <a:latin typeface="Google Sans Flex Medium"/>
              <a:ea typeface="Google Sans Flex Medium"/>
              <a:cs typeface="Google Sans Flex Medium"/>
              <a:sym typeface="Google Sans Flex Medium"/>
            </a:endParaRPr>
          </a:p>
        </p:txBody>
      </p:sp>
      <p:sp>
        <p:nvSpPr>
          <p:cNvPr id="72" name="Rounded Rectangle 71"/>
          <p:cNvSpPr/>
          <p:nvPr/>
        </p:nvSpPr>
        <p:spPr>
          <a:xfrm>
            <a:off x="320040" y="1188720"/>
            <a:ext cx="2706624" cy="32918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73152"/>
          <a:lstStyle/>
          <a:p>
            <a:pPr algn="ctr">
              <a:defRPr sz="1000" b="1">
                <a:solidFill>
                  <a:srgbClr val="213A63"/>
                </a:solidFill>
                <a:latin typeface="Google Sans Flex"/>
              </a:defRPr>
            </a:pPr>
            <a:r>
              <a:t>Autonomous Hydro Ingestion</a:t>
            </a:r>
          </a:p>
          <a:p>
            <a:pPr>
              <a:defRPr sz="800">
                <a:solidFill>
                  <a:srgbClr val="475569"/>
                </a:solidFill>
                <a:latin typeface="Google Sans Flex"/>
              </a:defRPr>
            </a:pPr>
            <a:r>
              <a:t>• Continuously polls 4 permanent Mekong River Commission (MRC) river gauges every 15 minutes.</a:t>
            </a:r>
          </a:p>
          <a:p>
            <a:pPr>
              <a:defRPr sz="800">
                <a:solidFill>
                  <a:srgbClr val="475569"/>
                </a:solidFill>
                <a:latin typeface="Google Sans Flex"/>
              </a:defRPr>
            </a:pPr>
            <a:r>
              <a:t>• Integrates Open-Meteo 7-day precipitation and 0-7cm soil moisture forecasts.</a:t>
            </a:r>
          </a:p>
          <a:p>
            <a:pPr>
              <a:defRPr sz="800">
                <a:solidFill>
                  <a:srgbClr val="475569"/>
                </a:solidFill>
                <a:latin typeface="Google Sans Flex"/>
              </a:defRPr>
            </a:pPr>
            <a:r>
              <a:t>• Includes dynamic hydraulic offset failover (&lt;0.1ms) if an upstream station endpoint times out.</a:t>
            </a:r>
          </a:p>
        </p:txBody>
      </p:sp>
      <p:sp>
        <p:nvSpPr>
          <p:cNvPr id="73" name="Rounded Rectangle 72"/>
          <p:cNvSpPr/>
          <p:nvPr/>
        </p:nvSpPr>
        <p:spPr>
          <a:xfrm>
            <a:off x="3218688" y="1188720"/>
            <a:ext cx="2706624" cy="32918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73152"/>
          <a:lstStyle/>
          <a:p>
            <a:pPr algn="ctr">
              <a:defRPr sz="1000" b="1">
                <a:solidFill>
                  <a:srgbClr val="213A63"/>
                </a:solidFill>
                <a:latin typeface="Google Sans Flex"/>
              </a:defRPr>
            </a:pPr>
            <a:r>
              <a:t>Hyper-Local Stage Agronomy</a:t>
            </a:r>
          </a:p>
          <a:p>
            <a:pPr>
              <a:defRPr sz="800">
                <a:solidFill>
                  <a:srgbClr val="475569"/>
                </a:solidFill>
                <a:latin typeface="Google Sans Flex"/>
              </a:defRPr>
            </a:pPr>
            <a:r>
              <a:t>• Maps surge velocities against 1,661 Cambodian communes in an in-memory 2025 MEF gazetteer.</a:t>
            </a:r>
          </a:p>
          <a:p>
            <a:pPr>
              <a:defRPr sz="800">
                <a:solidFill>
                  <a:srgbClr val="475569"/>
                </a:solidFill>
                <a:latin typeface="Google Sans Flex"/>
              </a:defRPr>
            </a:pPr>
            <a:r>
              <a:t>• Calculates time-to-inundation (36 to 72 hours lead time) against DEM ground elevations.</a:t>
            </a:r>
          </a:p>
          <a:p>
            <a:pPr>
              <a:defRPr sz="800">
                <a:solidFill>
                  <a:srgbClr val="475569"/>
                </a:solidFill>
                <a:latin typeface="Google Sans Flex"/>
              </a:defRPr>
            </a:pPr>
            <a:r>
              <a:t>• Tailors field directives: emergency combine mobilization for ripening rice vs. fertilizer holds during rain.</a:t>
            </a:r>
          </a:p>
        </p:txBody>
      </p:sp>
      <p:sp>
        <p:nvSpPr>
          <p:cNvPr id="74" name="Rounded Rectangle 73"/>
          <p:cNvSpPr/>
          <p:nvPr/>
        </p:nvSpPr>
        <p:spPr>
          <a:xfrm>
            <a:off x="6117336" y="1188720"/>
            <a:ext cx="2706624" cy="32918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73152"/>
          <a:lstStyle/>
          <a:p>
            <a:pPr algn="ctr">
              <a:defRPr sz="1000" b="1">
                <a:solidFill>
                  <a:srgbClr val="213A63"/>
                </a:solidFill>
                <a:latin typeface="Google Sans Flex"/>
              </a:defRPr>
            </a:pPr>
            <a:r>
              <a:t>Khmer Vernacular Voice AI</a:t>
            </a:r>
          </a:p>
          <a:p>
            <a:pPr>
              <a:defRPr sz="800">
                <a:solidFill>
                  <a:srgbClr val="475569"/>
                </a:solidFill>
                <a:latin typeface="Google Sans Flex"/>
              </a:defRPr>
            </a:pPr>
            <a:r>
              <a:t>• Eliminates rural literacy barriers using Gemini 3.8 Flash TTS for spoken Khmer audio bulletins.</a:t>
            </a:r>
          </a:p>
          <a:p>
            <a:pPr>
              <a:defRPr sz="800">
                <a:solidFill>
                  <a:srgbClr val="475569"/>
                </a:solidFill>
                <a:latin typeface="Google Sans Flex"/>
              </a:defRPr>
            </a:pPr>
            <a:r>
              <a:t>• Distributes audio via Telegram bot (@MekongPulseBot), public channel broadcasts, and web player.</a:t>
            </a:r>
          </a:p>
          <a:p>
            <a:pPr>
              <a:defRPr sz="800">
                <a:solidFill>
                  <a:srgbClr val="475569"/>
                </a:solidFill>
                <a:latin typeface="Google Sans Flex"/>
              </a:defRPr>
            </a:pPr>
            <a:r>
              <a:t>• Provides an AI Officer Assistant with voice input and token-gated channel broadcast publishing.</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pic>
        <p:nvPicPr>
          <p:cNvPr id="76" name="Google Shape;76;p16"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77" name="Google Shape;77;p1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78" name="Google Shape;78;p16"/>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 name="Google Shape;79;p16"/>
          <p:cNvSpPr txBox="1"/>
          <p:nvPr/>
        </p:nvSpPr>
        <p:spPr>
          <a:xfrm>
            <a:off x="265350" y="663825"/>
            <a:ext cx="8943000" cy="136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SemiBold"/>
                <a:ea typeface="Google Sans Flex SemiBold"/>
                <a:cs typeface="Google Sans Flex SemiBold"/>
                <a:sym typeface="Google Sans Flex SemiBold"/>
              </a:rPr>
              <a:t>Opportunities</a:t>
            </a:r>
            <a:br>
              <a:rPr lang="en-GB" sz="1600">
                <a:latin typeface="Google Sans Flex SemiBold"/>
                <a:ea typeface="Google Sans Flex SemiBold"/>
                <a:cs typeface="Google Sans Flex SemiBold"/>
                <a:sym typeface="Google Sans Flex SemiBold"/>
              </a:rPr>
            </a:br>
            <a:endParaRPr sz="1600">
              <a:latin typeface="Google Sans Flex SemiBold"/>
              <a:ea typeface="Google Sans Flex SemiBold"/>
              <a:cs typeface="Google Sans Flex SemiBold"/>
              <a:sym typeface="Google Sans Flex SemiBold"/>
            </a:endParaRPr>
          </a:p>
          <a:p>
            <a:pPr indent="-311150" lvl="0" marL="457200" rtl="0" algn="l">
              <a:spcBef>
                <a:spcPts val="0"/>
              </a:spcBef>
              <a:spcAft>
                <a:spcPts val="0"/>
              </a:spcAft>
              <a:buSzPts val="1300"/>
              <a:buFont typeface="Google Sans Flex"/>
              <a:buChar char="●"/>
            </a:pPr>
            <a:r>
              <a:rPr lang="en-GB" sz="1300">
                <a:latin typeface="Google Sans Flex"/>
                <a:ea typeface="Google Sans Flex"/>
                <a:cs typeface="Google Sans Flex"/>
                <a:sym typeface="Google Sans Flex"/>
              </a:rPr>
              <a:t>How different is it from any of the other existing ideas?</a:t>
            </a:r>
            <a:endParaRPr sz="1300">
              <a:latin typeface="Google Sans Flex"/>
              <a:ea typeface="Google Sans Flex"/>
              <a:cs typeface="Google Sans Flex"/>
              <a:sym typeface="Google Sans Flex"/>
            </a:endParaRPr>
          </a:p>
          <a:p>
            <a:pPr indent="-311150" lvl="0" marL="457200" rtl="0" algn="l">
              <a:spcBef>
                <a:spcPts val="0"/>
              </a:spcBef>
              <a:spcAft>
                <a:spcPts val="0"/>
              </a:spcAft>
              <a:buSzPts val="1300"/>
              <a:buFont typeface="Google Sans Flex"/>
              <a:buChar char="●"/>
            </a:pPr>
            <a:r>
              <a:rPr lang="en-GB" sz="1300">
                <a:latin typeface="Google Sans Flex"/>
                <a:ea typeface="Google Sans Flex"/>
                <a:cs typeface="Google Sans Flex"/>
                <a:sym typeface="Google Sans Flex"/>
              </a:rPr>
              <a:t>How will it be able to solve the problem?</a:t>
            </a:r>
            <a:endParaRPr sz="1300">
              <a:latin typeface="Google Sans Flex"/>
              <a:ea typeface="Google Sans Flex"/>
              <a:cs typeface="Google Sans Flex"/>
              <a:sym typeface="Google Sans Flex"/>
            </a:endParaRPr>
          </a:p>
          <a:p>
            <a:pPr indent="-311150" lvl="0" marL="457200" rtl="0" algn="l">
              <a:spcBef>
                <a:spcPts val="0"/>
              </a:spcBef>
              <a:spcAft>
                <a:spcPts val="0"/>
              </a:spcAft>
              <a:buSzPts val="1300"/>
              <a:buFont typeface="Google Sans Flex"/>
              <a:buChar char="●"/>
            </a:pPr>
            <a:r>
              <a:rPr lang="en-GB" sz="1300">
                <a:latin typeface="Google Sans Flex"/>
                <a:ea typeface="Google Sans Flex"/>
                <a:cs typeface="Google Sans Flex"/>
                <a:sym typeface="Google Sans Flex"/>
              </a:rPr>
              <a:t>USP of the proposed solution</a:t>
            </a:r>
            <a:endParaRPr sz="1300">
              <a:latin typeface="Google Sans Flex"/>
              <a:ea typeface="Google Sans Flex"/>
              <a:cs typeface="Google Sans Flex"/>
              <a:sym typeface="Google Sans Flex"/>
            </a:endParaRPr>
          </a:p>
          <a:p>
            <a:pPr indent="0" lvl="0" marL="0" rtl="0" algn="l">
              <a:spcBef>
                <a:spcPts val="0"/>
              </a:spcBef>
              <a:spcAft>
                <a:spcPts val="0"/>
              </a:spcAft>
              <a:buNone/>
            </a:pPr>
            <a:r>
              <a:t/>
            </a:r>
            <a:endParaRPr sz="1600">
              <a:latin typeface="Google Sans Flex Medium"/>
              <a:ea typeface="Google Sans Flex Medium"/>
              <a:cs typeface="Google Sans Flex Medium"/>
              <a:sym typeface="Google Sans Flex Medium"/>
            </a:endParaRPr>
          </a:p>
          <a:p>
            <a:pPr indent="0" lvl="0" marL="0" rtl="0" algn="l">
              <a:spcBef>
                <a:spcPts val="0"/>
              </a:spcBef>
              <a:spcAft>
                <a:spcPts val="0"/>
              </a:spcAft>
              <a:buNone/>
            </a:pPr>
            <a:r>
              <a:t/>
            </a:r>
            <a:endParaRPr sz="1600">
              <a:latin typeface="Google Sans Flex Medium"/>
              <a:ea typeface="Google Sans Flex Medium"/>
              <a:cs typeface="Google Sans Flex Medium"/>
              <a:sym typeface="Google Sans Flex Medium"/>
            </a:endParaRPr>
          </a:p>
        </p:txBody>
      </p:sp>
      <p:sp>
        <p:nvSpPr>
          <p:cNvPr id="80" name="Rounded Rectangle 79"/>
          <p:cNvSpPr/>
          <p:nvPr/>
        </p:nvSpPr>
        <p:spPr>
          <a:xfrm>
            <a:off x="320040" y="1188720"/>
            <a:ext cx="2706624" cy="32918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73152"/>
          <a:lstStyle/>
          <a:p>
            <a:pPr algn="ctr">
              <a:defRPr sz="1000" b="1">
                <a:solidFill>
                  <a:srgbClr val="213A63"/>
                </a:solidFill>
                <a:latin typeface="Google Sans Flex"/>
              </a:defRPr>
            </a:pPr>
            <a:r>
              <a:t>Difference from Existing Ideas</a:t>
            </a:r>
          </a:p>
          <a:p>
            <a:pPr>
              <a:defRPr sz="800">
                <a:solidFill>
                  <a:srgbClr val="475569"/>
                </a:solidFill>
                <a:latin typeface="Google Sans Flex"/>
              </a:defRPr>
            </a:pPr>
            <a:r>
              <a:t>• Google Flood Hub / MRC: Publish raw gauge elevations in meters; no crop danger context or local field action.</a:t>
            </a:r>
          </a:p>
          <a:p>
            <a:pPr>
              <a:defRPr sz="800">
                <a:solidFill>
                  <a:srgbClr val="475569"/>
                </a:solidFill>
                <a:latin typeface="Google Sans Flex"/>
              </a:defRPr>
            </a:pPr>
            <a:r>
              <a:t>• IRRI / RiceAdvice: Provide agronomic calendars but lack real-time hydrological hazard triggers.</a:t>
            </a:r>
          </a:p>
          <a:p>
            <a:pPr>
              <a:defRPr sz="800">
                <a:solidFill>
                  <a:srgbClr val="475569"/>
                </a:solidFill>
                <a:latin typeface="Google Sans Flex"/>
              </a:defRPr>
            </a:pPr>
            <a:r>
              <a:t>• EWS 1294 (Civic Calls): Delivers hazard-generic disaster notices without agricultural directives.</a:t>
            </a:r>
          </a:p>
          <a:p>
            <a:pPr>
              <a:defRPr sz="800">
                <a:solidFill>
                  <a:srgbClr val="475569"/>
                </a:solidFill>
                <a:latin typeface="Google Sans Flex"/>
              </a:defRPr>
            </a:pPr>
            <a:r>
              <a:t>• MekongPulse Advantage: The only platform combining Hazard × Crop Stage × Spoken Khmer.</a:t>
            </a:r>
          </a:p>
        </p:txBody>
      </p:sp>
      <p:sp>
        <p:nvSpPr>
          <p:cNvPr id="81" name="Rounded Rectangle 80"/>
          <p:cNvSpPr/>
          <p:nvPr/>
        </p:nvSpPr>
        <p:spPr>
          <a:xfrm>
            <a:off x="3218688" y="1188720"/>
            <a:ext cx="2706624" cy="32918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73152"/>
          <a:lstStyle/>
          <a:p>
            <a:pPr algn="ctr">
              <a:defRPr sz="1000" b="1">
                <a:solidFill>
                  <a:srgbClr val="213A63"/>
                </a:solidFill>
                <a:latin typeface="Google Sans Flex"/>
              </a:defRPr>
            </a:pPr>
            <a:r>
              <a:t>How It Solves the Problem</a:t>
            </a:r>
          </a:p>
          <a:p>
            <a:pPr>
              <a:defRPr sz="800">
                <a:solidFill>
                  <a:srgbClr val="475569"/>
                </a:solidFill>
                <a:latin typeface="Google Sans Flex"/>
              </a:defRPr>
            </a:pPr>
            <a:r>
              <a:t>• 36 to 72 Hours Lead Time: Gives farmers and cooperatives advance warning to mobilize combine harvesters.</a:t>
            </a:r>
          </a:p>
          <a:p>
            <a:pPr>
              <a:defRPr sz="800">
                <a:solidFill>
                  <a:srgbClr val="475569"/>
                </a:solidFill>
                <a:latin typeface="Google Sans Flex"/>
              </a:defRPr>
            </a:pPr>
            <a:r>
              <a:t>• Prevents Direct Financial Loss: Eliminates US$150/ha wasted on fertilizer washed away by unexpected floods.</a:t>
            </a:r>
          </a:p>
          <a:p>
            <a:pPr>
              <a:defRPr sz="800">
                <a:solidFill>
                  <a:srgbClr val="475569"/>
                </a:solidFill>
                <a:latin typeface="Google Sans Flex"/>
              </a:defRPr>
            </a:pPr>
            <a:r>
              <a:t>• Averts Microfinance Default: Protects crop yields that serve as repayment collateral for land-backed microloans.</a:t>
            </a:r>
          </a:p>
          <a:p>
            <a:pPr>
              <a:defRPr sz="800">
                <a:solidFill>
                  <a:srgbClr val="475569"/>
                </a:solidFill>
                <a:latin typeface="Google Sans Flex"/>
              </a:defRPr>
            </a:pPr>
            <a:r>
              <a:t>• Reaches Low-Literacy Farmers: Delivers audio guidance directly through community relays and loudspeakers.</a:t>
            </a:r>
          </a:p>
        </p:txBody>
      </p:sp>
      <p:sp>
        <p:nvSpPr>
          <p:cNvPr id="82" name="Rounded Rectangle 81"/>
          <p:cNvSpPr/>
          <p:nvPr/>
        </p:nvSpPr>
        <p:spPr>
          <a:xfrm>
            <a:off x="6117336" y="1188720"/>
            <a:ext cx="2706624" cy="32918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73152"/>
          <a:lstStyle/>
          <a:p>
            <a:pPr algn="ctr">
              <a:defRPr sz="1000" b="1">
                <a:solidFill>
                  <a:srgbClr val="213A63"/>
                </a:solidFill>
                <a:latin typeface="Google Sans Flex"/>
              </a:defRPr>
            </a:pPr>
            <a:r>
              <a:t>Unique Selling Proposition (USP)</a:t>
            </a:r>
          </a:p>
          <a:p>
            <a:pPr>
              <a:defRPr sz="800">
                <a:solidFill>
                  <a:srgbClr val="475569"/>
                </a:solidFill>
                <a:latin typeface="Google Sans Flex"/>
              </a:defRPr>
            </a:pPr>
            <a:r>
              <a:t>• Zero-Hardware Infrastructure: Requires zero physical river buoys or vulnerable sensors; runs on permanent MRC telemetry.</a:t>
            </a:r>
          </a:p>
          <a:p>
            <a:pPr>
              <a:defRPr sz="800">
                <a:solidFill>
                  <a:srgbClr val="475569"/>
                </a:solidFill>
                <a:latin typeface="Google Sans Flex"/>
              </a:defRPr>
            </a:pPr>
            <a:r>
              <a:t>• Sub-Millisecond Geocoding: In-memory STRtree index resolves any Cambodian GPS coordinate in 0.17 ms.</a:t>
            </a:r>
          </a:p>
          <a:p>
            <a:pPr>
              <a:defRPr sz="800">
                <a:solidFill>
                  <a:srgbClr val="475569"/>
                </a:solidFill>
                <a:latin typeface="Google Sans Flex"/>
              </a:defRPr>
            </a:pPr>
            <a:r>
              <a:t>• Deterministic Verification: 4-check time-series QC (gaps, stuck, spike, range) guarantees 0% LLM hallucination.</a:t>
            </a:r>
          </a:p>
          <a:p>
            <a:pPr>
              <a:defRPr sz="800">
                <a:solidFill>
                  <a:srgbClr val="475569"/>
                </a:solidFill>
                <a:latin typeface="Google Sans Flex"/>
              </a:defRPr>
            </a:pPr>
            <a:r>
              <a:t>• Multi-Model Resilience: Automatic in-flight fallback across Gemini models prevents turn loss on 429 quota limits.</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id="84" name="Google Shape;84;p17"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85" name="Google Shape;85;p17"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86" name="Google Shape;86;p17"/>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 name="Google Shape;87;p17"/>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List of features offered by the solution</a:t>
            </a:r>
            <a:endParaRPr sz="1600">
              <a:latin typeface="Google Sans Flex Medium"/>
              <a:ea typeface="Google Sans Flex Medium"/>
              <a:cs typeface="Google Sans Flex Medium"/>
              <a:sym typeface="Google Sans Flex Medium"/>
            </a:endParaRPr>
          </a:p>
        </p:txBody>
      </p:sp>
      <p:sp>
        <p:nvSpPr>
          <p:cNvPr id="88" name="Rounded Rectangle 87"/>
          <p:cNvSpPr/>
          <p:nvPr/>
        </p:nvSpPr>
        <p:spPr>
          <a:xfrm>
            <a:off x="320040" y="1188720"/>
            <a:ext cx="2706624" cy="1572768"/>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73152"/>
          <a:lstStyle/>
          <a:p>
            <a:pPr algn="ctr">
              <a:defRPr sz="1000" b="1">
                <a:solidFill>
                  <a:srgbClr val="213A63"/>
                </a:solidFill>
                <a:latin typeface="Google Sans Flex"/>
              </a:defRPr>
            </a:pPr>
            <a:r>
              <a:t>15-Min Telemetry Sync</a:t>
            </a:r>
          </a:p>
          <a:p>
            <a:pPr>
              <a:defRPr sz="800">
                <a:solidFill>
                  <a:srgbClr val="475569"/>
                </a:solidFill>
                <a:latin typeface="Google Sans Flex"/>
              </a:defRPr>
            </a:pPr>
            <a:r>
              <a:t>• Automated polling of 4 MRC river gauges</a:t>
            </a:r>
          </a:p>
          <a:p>
            <a:pPr>
              <a:defRPr sz="800">
                <a:solidFill>
                  <a:srgbClr val="475569"/>
                </a:solidFill>
                <a:latin typeface="Google Sans Flex"/>
              </a:defRPr>
            </a:pPr>
            <a:r>
              <a:t>• 7-day precipitation &amp; soil saturation forecasts</a:t>
            </a:r>
          </a:p>
          <a:p>
            <a:pPr>
              <a:defRPr sz="800">
                <a:solidFill>
                  <a:srgbClr val="475569"/>
                </a:solidFill>
                <a:latin typeface="Google Sans Flex"/>
              </a:defRPr>
            </a:pPr>
            <a:r>
              <a:t>• Automatic fallback to adjacent stations</a:t>
            </a:r>
          </a:p>
        </p:txBody>
      </p:sp>
      <p:sp>
        <p:nvSpPr>
          <p:cNvPr id="89" name="Rounded Rectangle 88"/>
          <p:cNvSpPr/>
          <p:nvPr/>
        </p:nvSpPr>
        <p:spPr>
          <a:xfrm>
            <a:off x="3218688" y="1188720"/>
            <a:ext cx="2706624" cy="1572768"/>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73152"/>
          <a:lstStyle/>
          <a:p>
            <a:pPr algn="ctr">
              <a:defRPr sz="1000" b="1">
                <a:solidFill>
                  <a:srgbClr val="213A63"/>
                </a:solidFill>
                <a:latin typeface="Google Sans Flex"/>
              </a:defRPr>
            </a:pPr>
            <a:r>
              <a:t>STRtree Spatial Reasoner</a:t>
            </a:r>
          </a:p>
          <a:p>
            <a:pPr>
              <a:defRPr sz="800">
                <a:solidFill>
                  <a:srgbClr val="475569"/>
                </a:solidFill>
                <a:latin typeface="Google Sans Flex"/>
              </a:defRPr>
            </a:pPr>
            <a:r>
              <a:t>• 1,661 communes mapped to 2025 MEF boundaries</a:t>
            </a:r>
          </a:p>
          <a:p>
            <a:pPr>
              <a:defRPr sz="800">
                <a:solidFill>
                  <a:srgbClr val="475569"/>
                </a:solidFill>
                <a:latin typeface="Google Sans Flex"/>
              </a:defRPr>
            </a:pPr>
            <a:r>
              <a:t>• 0.17 ms average point-in-polygon resolution</a:t>
            </a:r>
          </a:p>
          <a:p>
            <a:pPr>
              <a:defRPr sz="800">
                <a:solidFill>
                  <a:srgbClr val="475569"/>
                </a:solidFill>
                <a:latin typeface="Google Sans Flex"/>
              </a:defRPr>
            </a:pPr>
            <a:r>
              <a:t>• Elevation &amp; levee clearance calculations</a:t>
            </a:r>
          </a:p>
        </p:txBody>
      </p:sp>
      <p:sp>
        <p:nvSpPr>
          <p:cNvPr id="90" name="Rounded Rectangle 89"/>
          <p:cNvSpPr/>
          <p:nvPr/>
        </p:nvSpPr>
        <p:spPr>
          <a:xfrm>
            <a:off x="6117336" y="1188720"/>
            <a:ext cx="2706624" cy="1572768"/>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73152"/>
          <a:lstStyle/>
          <a:p>
            <a:pPr algn="ctr">
              <a:defRPr sz="1000" b="1">
                <a:solidFill>
                  <a:srgbClr val="213A63"/>
                </a:solidFill>
                <a:latin typeface="Google Sans Flex"/>
              </a:defRPr>
            </a:pPr>
            <a:r>
              <a:t>Stage-Aware Agronomy</a:t>
            </a:r>
          </a:p>
          <a:p>
            <a:pPr>
              <a:defRPr sz="800">
                <a:solidFill>
                  <a:srgbClr val="475569"/>
                </a:solidFill>
                <a:latin typeface="Google Sans Flex"/>
              </a:defRPr>
            </a:pPr>
            <a:r>
              <a:t>• Rice growth stages (Tillering to Ripening)</a:t>
            </a:r>
          </a:p>
          <a:p>
            <a:pPr>
              <a:defRPr sz="800">
                <a:solidFill>
                  <a:srgbClr val="475569"/>
                </a:solidFill>
                <a:latin typeface="Google Sans Flex"/>
              </a:defRPr>
            </a:pPr>
            <a:r>
              <a:t>• Action codes: Harvest, Fertilizer Hold, Sluice</a:t>
            </a:r>
          </a:p>
          <a:p>
            <a:pPr>
              <a:defRPr sz="800">
                <a:solidFill>
                  <a:srgbClr val="475569"/>
                </a:solidFill>
                <a:latin typeface="Google Sans Flex"/>
              </a:defRPr>
            </a:pPr>
            <a:r>
              <a:t>• 65%+ estimated crop value salvaged</a:t>
            </a:r>
          </a:p>
        </p:txBody>
      </p:sp>
      <p:sp>
        <p:nvSpPr>
          <p:cNvPr id="91" name="Rounded Rectangle 90"/>
          <p:cNvSpPr/>
          <p:nvPr/>
        </p:nvSpPr>
        <p:spPr>
          <a:xfrm>
            <a:off x="320040" y="2880360"/>
            <a:ext cx="2706624" cy="1572768"/>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73152"/>
          <a:lstStyle/>
          <a:p>
            <a:pPr algn="ctr">
              <a:defRPr sz="1000" b="1">
                <a:solidFill>
                  <a:srgbClr val="213A63"/>
                </a:solidFill>
                <a:latin typeface="Google Sans Flex"/>
              </a:defRPr>
            </a:pPr>
            <a:r>
              <a:t>Gemini Khmer Voice Notes</a:t>
            </a:r>
          </a:p>
          <a:p>
            <a:pPr>
              <a:defRPr sz="800">
                <a:solidFill>
                  <a:srgbClr val="475569"/>
                </a:solidFill>
                <a:latin typeface="Google Sans Flex"/>
              </a:defRPr>
            </a:pPr>
            <a:r>
              <a:t>• 24 kHz natural speech with respectful honorifics</a:t>
            </a:r>
          </a:p>
          <a:p>
            <a:pPr>
              <a:defRPr sz="800">
                <a:solidFill>
                  <a:srgbClr val="475569"/>
                </a:solidFill>
                <a:latin typeface="Google Sans Flex"/>
              </a:defRPr>
            </a:pPr>
            <a:r>
              <a:t>• Transcoded to compact MP3 via lameenc</a:t>
            </a:r>
          </a:p>
          <a:p>
            <a:pPr>
              <a:defRPr sz="800">
                <a:solidFill>
                  <a:srgbClr val="475569"/>
                </a:solidFill>
                <a:latin typeface="Google Sans Flex"/>
              </a:defRPr>
            </a:pPr>
            <a:r>
              <a:t>• Playable in Telegram and web for village speakers</a:t>
            </a:r>
          </a:p>
        </p:txBody>
      </p:sp>
      <p:sp>
        <p:nvSpPr>
          <p:cNvPr id="92" name="Rounded Rectangle 91"/>
          <p:cNvSpPr/>
          <p:nvPr/>
        </p:nvSpPr>
        <p:spPr>
          <a:xfrm>
            <a:off x="3218688" y="2880360"/>
            <a:ext cx="2706624" cy="1572768"/>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73152"/>
          <a:lstStyle/>
          <a:p>
            <a:pPr algn="ctr">
              <a:defRPr sz="1000" b="1">
                <a:solidFill>
                  <a:srgbClr val="213A63"/>
                </a:solidFill>
                <a:latin typeface="Google Sans Flex"/>
              </a:defRPr>
            </a:pPr>
            <a:r>
              <a:t>MekongSentinel Patrol</a:t>
            </a:r>
          </a:p>
          <a:p>
            <a:pPr>
              <a:defRPr sz="800">
                <a:solidFill>
                  <a:srgbClr val="475569"/>
                </a:solidFill>
                <a:latin typeface="Google Sans Flex"/>
              </a:defRPr>
            </a:pPr>
            <a:r>
              <a:t>• Autonomous 15-minute background patrol agent</a:t>
            </a:r>
          </a:p>
          <a:p>
            <a:pPr>
              <a:defRPr sz="800">
                <a:solidFill>
                  <a:srgbClr val="475569"/>
                </a:solidFill>
                <a:latin typeface="Google Sans Flex"/>
              </a:defRPr>
            </a:pPr>
            <a:r>
              <a:t>• 6-hour debounce cooldown to avoid alert fatigue</a:t>
            </a:r>
          </a:p>
          <a:p>
            <a:pPr>
              <a:defRPr sz="800">
                <a:solidFill>
                  <a:srgbClr val="475569"/>
                </a:solidFill>
                <a:latin typeface="Google Sans Flex"/>
              </a:defRPr>
            </a:pPr>
            <a:r>
              <a:t>• Stage-grouped broadcast alert dispatch</a:t>
            </a:r>
          </a:p>
        </p:txBody>
      </p:sp>
      <p:sp>
        <p:nvSpPr>
          <p:cNvPr id="93" name="Rounded Rectangle 92"/>
          <p:cNvSpPr/>
          <p:nvPr/>
        </p:nvSpPr>
        <p:spPr>
          <a:xfrm>
            <a:off x="6117336" y="2880360"/>
            <a:ext cx="2706624" cy="1572768"/>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73152"/>
          <a:lstStyle/>
          <a:p>
            <a:pPr algn="ctr">
              <a:defRPr sz="1000" b="1">
                <a:solidFill>
                  <a:srgbClr val="213A63"/>
                </a:solidFill>
                <a:latin typeface="Google Sans Flex"/>
              </a:defRPr>
            </a:pPr>
            <a:r>
              <a:t>AI Officer Assistant</a:t>
            </a:r>
          </a:p>
          <a:p>
            <a:pPr>
              <a:defRPr sz="800">
                <a:solidFill>
                  <a:srgbClr val="475569"/>
                </a:solidFill>
                <a:latin typeface="Google Sans Flex"/>
              </a:defRPr>
            </a:pPr>
            <a:r>
              <a:t>• Dedicated portal at /{locale}/assistant with auth</a:t>
            </a:r>
          </a:p>
          <a:p>
            <a:pPr>
              <a:defRPr sz="800">
                <a:solidFill>
                  <a:srgbClr val="475569"/>
                </a:solidFill>
                <a:latin typeface="Google Sans Flex"/>
              </a:defRPr>
            </a:pPr>
            <a:r>
              <a:t>• Server-side Khmer speech-to-text input</a:t>
            </a:r>
          </a:p>
          <a:p>
            <a:pPr>
              <a:defRPr sz="800">
                <a:solidFill>
                  <a:srgbClr val="475569"/>
                </a:solidFill>
                <a:latin typeface="Google Sans Flex"/>
              </a:defRPr>
            </a:pPr>
            <a:r>
              <a:t>• Token-gated broadcast channel publishing</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id="92" name="Google Shape;92;p18"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93" name="Google Shape;93;p18"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94" name="Google Shape;94;p18"/>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 name="Google Shape;95;p18"/>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Process flow diagram or Use-case diagram</a:t>
            </a:r>
            <a:endParaRPr sz="1600">
              <a:latin typeface="Google Sans Flex Medium"/>
              <a:ea typeface="Google Sans Flex Medium"/>
              <a:cs typeface="Google Sans Flex Medium"/>
              <a:sym typeface="Google Sans Flex Medium"/>
            </a:endParaRPr>
          </a:p>
        </p:txBody>
      </p:sp>
      <p:pic>
        <p:nvPicPr>
          <p:cNvPr id="96" name="Picture 95" descr="diagram_process_flow.png"/>
          <p:cNvPicPr>
            <a:picLocks noChangeAspect="1"/>
          </p:cNvPicPr>
          <p:nvPr/>
        </p:nvPicPr>
        <p:blipFill>
          <a:blip r:embed="rId5"/>
          <a:stretch>
            <a:fillRect/>
          </a:stretch>
        </p:blipFill>
        <p:spPr>
          <a:xfrm>
            <a:off x="320040" y="1188720"/>
            <a:ext cx="8503920" cy="372046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pic>
        <p:nvPicPr>
          <p:cNvPr id="100" name="Google Shape;100;p19"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01" name="Google Shape;101;p19"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02" name="Google Shape;102;p19"/>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 name="Google Shape;103;p19"/>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Wireframes/Mock diagrams of the proposed solution (optional)</a:t>
            </a:r>
            <a:endParaRPr sz="1600">
              <a:latin typeface="Google Sans Flex Medium"/>
              <a:ea typeface="Google Sans Flex Medium"/>
              <a:cs typeface="Google Sans Flex Medium"/>
              <a:sym typeface="Google Sans Flex Medium"/>
            </a:endParaRPr>
          </a:p>
        </p:txBody>
      </p:sp>
      <p:sp>
        <p:nvSpPr>
          <p:cNvPr id="104" name="Rounded Rectangle 103"/>
          <p:cNvSpPr/>
          <p:nvPr/>
        </p:nvSpPr>
        <p:spPr>
          <a:xfrm>
            <a:off x="320040" y="1188720"/>
            <a:ext cx="2706624" cy="32918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73152"/>
          <a:lstStyle/>
          <a:p>
            <a:pPr algn="ctr">
              <a:defRPr sz="1000" b="1">
                <a:solidFill>
                  <a:srgbClr val="213A63"/>
                </a:solidFill>
                <a:latin typeface="Google Sans Flex"/>
              </a:defRPr>
            </a:pPr>
            <a:r>
              <a:t>Surface 1: Telegram Bot &amp; Channel</a:t>
            </a:r>
          </a:p>
          <a:p>
            <a:pPr>
              <a:defRPr sz="800">
                <a:solidFill>
                  <a:srgbClr val="475569"/>
                </a:solidFill>
                <a:latin typeface="Google Sans Flex"/>
              </a:defRPr>
            </a:pPr>
            <a:r>
              <a:t>• Interactive GPS pin sharing with instant risk tier response.</a:t>
            </a:r>
          </a:p>
          <a:p>
            <a:pPr>
              <a:defRPr sz="800">
                <a:solidFill>
                  <a:srgbClr val="475569"/>
                </a:solidFill>
                <a:latin typeface="Google Sans Flex"/>
              </a:defRPr>
            </a:pPr>
            <a:r>
              <a:t>• Single-touch rice growth stage onboarding (saved per user).</a:t>
            </a:r>
          </a:p>
          <a:p>
            <a:pPr>
              <a:defRPr sz="800">
                <a:solidFill>
                  <a:srgbClr val="475569"/>
                </a:solidFill>
                <a:latin typeface="Google Sans Flex"/>
              </a:defRPr>
            </a:pPr>
            <a:r>
              <a:t>• Playable spoken Khmer voice notes with visual risk badges.</a:t>
            </a:r>
          </a:p>
          <a:p>
            <a:pPr>
              <a:defRPr sz="800">
                <a:solidFill>
                  <a:srgbClr val="475569"/>
                </a:solidFill>
                <a:latin typeface="Google Sans Flex"/>
              </a:defRPr>
            </a:pPr>
            <a:r>
              <a:t>• Ground-truth field reporting (/report) for community feedback.</a:t>
            </a:r>
          </a:p>
        </p:txBody>
      </p:sp>
      <p:sp>
        <p:nvSpPr>
          <p:cNvPr id="105" name="Rounded Rectangle 104"/>
          <p:cNvSpPr/>
          <p:nvPr/>
        </p:nvSpPr>
        <p:spPr>
          <a:xfrm>
            <a:off x="3218688" y="1188720"/>
            <a:ext cx="2706624" cy="32918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73152"/>
          <a:lstStyle/>
          <a:p>
            <a:pPr algn="ctr">
              <a:defRPr sz="1000" b="1">
                <a:solidFill>
                  <a:srgbClr val="213A63"/>
                </a:solidFill>
                <a:latin typeface="Google Sans Flex"/>
              </a:defRPr>
            </a:pPr>
            <a:r>
              <a:t>Surface 2: Officials' Web Console</a:t>
            </a:r>
          </a:p>
          <a:p>
            <a:pPr>
              <a:defRPr sz="800">
                <a:solidFill>
                  <a:srgbClr val="475569"/>
                </a:solidFill>
                <a:latin typeface="Google Sans Flex"/>
              </a:defRPr>
            </a:pPr>
            <a:r>
              <a:t>• Read-only interactive Leaflet map covering all 1,661 communes.</a:t>
            </a:r>
          </a:p>
          <a:p>
            <a:pPr>
              <a:defRPr sz="800">
                <a:solidFill>
                  <a:srgbClr val="475569"/>
                </a:solidFill>
                <a:latin typeface="Google Sans Flex"/>
              </a:defRPr>
            </a:pPr>
            <a:r>
              <a:t>• Zero external map tiles required; instant load on 3G rural networks.</a:t>
            </a:r>
          </a:p>
          <a:p>
            <a:pPr>
              <a:defRPr sz="800">
                <a:solidFill>
                  <a:srgbClr val="475569"/>
                </a:solidFill>
                <a:latin typeface="Google Sans Flex"/>
              </a:defRPr>
            </a:pPr>
            <a:r>
              <a:t>• Live station hydrographs with alarm and flood stage thresholds.</a:t>
            </a:r>
          </a:p>
          <a:p>
            <a:pPr>
              <a:defRPr sz="800">
                <a:solidFill>
                  <a:srgbClr val="475569"/>
                </a:solidFill>
                <a:latin typeface="Google Sans Flex"/>
              </a:defRPr>
            </a:pPr>
            <a:r>
              <a:t>• Commune risk register, printable status summaries, and CSV export.</a:t>
            </a:r>
          </a:p>
        </p:txBody>
      </p:sp>
      <p:sp>
        <p:nvSpPr>
          <p:cNvPr id="106" name="Rounded Rectangle 105"/>
          <p:cNvSpPr/>
          <p:nvPr/>
        </p:nvSpPr>
        <p:spPr>
          <a:xfrm>
            <a:off x="6117336" y="1188720"/>
            <a:ext cx="2706624" cy="32918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73152"/>
          <a:lstStyle/>
          <a:p>
            <a:pPr algn="ctr">
              <a:defRPr sz="1000" b="1">
                <a:solidFill>
                  <a:srgbClr val="213A63"/>
                </a:solidFill>
                <a:latin typeface="Google Sans Flex"/>
              </a:defRPr>
            </a:pPr>
            <a:r>
              <a:t>Surface 3: AI Officer Assistant Portal</a:t>
            </a:r>
          </a:p>
          <a:p>
            <a:pPr>
              <a:defRPr sz="800">
                <a:solidFill>
                  <a:srgbClr val="475569"/>
                </a:solidFill>
                <a:latin typeface="Google Sans Flex"/>
              </a:defRPr>
            </a:pPr>
            <a:r>
              <a:t>• Passcode-authenticated officer sign-in (12h signed session).</a:t>
            </a:r>
          </a:p>
          <a:p>
            <a:pPr>
              <a:defRPr sz="800">
                <a:solidFill>
                  <a:srgbClr val="475569"/>
                </a:solidFill>
                <a:latin typeface="Google Sans Flex"/>
              </a:defRPr>
            </a:pPr>
            <a:r>
              <a:t>• Server-side Khmer speech-to-text recording (MediaRecorder + Gemini).</a:t>
            </a:r>
          </a:p>
          <a:p>
            <a:pPr>
              <a:defRPr sz="800">
                <a:solidFill>
                  <a:srgbClr val="475569"/>
                </a:solidFill>
                <a:latin typeface="Google Sans Flex"/>
              </a:defRPr>
            </a:pPr>
            <a:r>
              <a:t>• Deterministic evidence retrieval and bilingual draft status updates.</a:t>
            </a:r>
          </a:p>
          <a:p>
            <a:pPr>
              <a:defRPr sz="800">
                <a:solidFill>
                  <a:srgbClr val="475569"/>
                </a:solidFill>
                <a:latin typeface="Google Sans Flex"/>
              </a:defRPr>
            </a:pPr>
            <a:r>
              <a:t>• Token-gated channel publishing with live delivery diagnostics.</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pic>
        <p:nvPicPr>
          <p:cNvPr id="108" name="Google Shape;108;p20"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09" name="Google Shape;109;p20"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0" name="Google Shape;110;p20"/>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 name="Google Shape;111;p20"/>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Architecture diagram of the proposed solution</a:t>
            </a:r>
            <a:endParaRPr sz="1600">
              <a:latin typeface="Google Sans Flex Medium"/>
              <a:ea typeface="Google Sans Flex Medium"/>
              <a:cs typeface="Google Sans Flex Medium"/>
              <a:sym typeface="Google Sans Flex Medium"/>
            </a:endParaRPr>
          </a:p>
        </p:txBody>
      </p:sp>
      <p:pic>
        <p:nvPicPr>
          <p:cNvPr id="112" name="Picture 111" descr="diagram_architecture.png"/>
          <p:cNvPicPr>
            <a:picLocks noChangeAspect="1"/>
          </p:cNvPicPr>
          <p:nvPr/>
        </p:nvPicPr>
        <p:blipFill>
          <a:blip r:embed="rId5"/>
          <a:stretch>
            <a:fillRect/>
          </a:stretch>
        </p:blipFill>
        <p:spPr>
          <a:xfrm>
            <a:off x="320040" y="1188720"/>
            <a:ext cx="8503920" cy="398621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pic>
        <p:nvPicPr>
          <p:cNvPr id="116" name="Google Shape;116;p21"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17" name="Google Shape;117;p21"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8" name="Google Shape;118;p21"/>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 name="Google Shape;119;p21"/>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Technologies to be used in the solution</a:t>
            </a:r>
            <a:endParaRPr sz="1600">
              <a:latin typeface="Google Sans Flex Medium"/>
              <a:ea typeface="Google Sans Flex Medium"/>
              <a:cs typeface="Google Sans Flex Medium"/>
              <a:sym typeface="Google Sans Flex Medium"/>
            </a:endParaRPr>
          </a:p>
        </p:txBody>
      </p:sp>
      <p:sp>
        <p:nvSpPr>
          <p:cNvPr id="120" name="Rounded Rectangle 119"/>
          <p:cNvSpPr/>
          <p:nvPr/>
        </p:nvSpPr>
        <p:spPr>
          <a:xfrm>
            <a:off x="320040" y="1188720"/>
            <a:ext cx="4160520" cy="1572768"/>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73152"/>
          <a:lstStyle/>
          <a:p>
            <a:pPr algn="ctr">
              <a:defRPr sz="1000" b="1">
                <a:solidFill>
                  <a:srgbClr val="213A63"/>
                </a:solidFill>
                <a:latin typeface="Google Sans Flex"/>
              </a:defRPr>
            </a:pPr>
            <a:r>
              <a:t>AI Models &amp; Reasoning</a:t>
            </a:r>
          </a:p>
          <a:p>
            <a:pPr>
              <a:defRPr sz="800">
                <a:solidFill>
                  <a:srgbClr val="475569"/>
                </a:solidFill>
                <a:latin typeface="Google Sans Flex"/>
              </a:defRPr>
            </a:pPr>
            <a:r>
              <a:t>• Gemini 3.8 Flash: Bulletin polish &amp; ReAct advisor</a:t>
            </a:r>
          </a:p>
          <a:p>
            <a:pPr>
              <a:defRPr sz="800">
                <a:solidFill>
                  <a:srgbClr val="475569"/>
                </a:solidFill>
                <a:latin typeface="Google Sans Flex"/>
              </a:defRPr>
            </a:pPr>
            <a:r>
              <a:t>• Gemini 3.8 Flash TTS: Spoken Khmer speech synthesis</a:t>
            </a:r>
          </a:p>
          <a:p>
            <a:pPr>
              <a:defRPr sz="800">
                <a:solidFill>
                  <a:srgbClr val="475569"/>
                </a:solidFill>
                <a:latin typeface="Google Sans Flex"/>
              </a:defRPr>
            </a:pPr>
            <a:r>
              <a:t>• Google Cloud ADK (Agent Development Kit 2.12): Multi-agent architecture</a:t>
            </a:r>
          </a:p>
          <a:p>
            <a:pPr>
              <a:defRPr sz="800">
                <a:solidFill>
                  <a:srgbClr val="475569"/>
                </a:solidFill>
                <a:latin typeface="Google Sans Flex"/>
              </a:defRPr>
            </a:pPr>
            <a:r>
              <a:t>• Multi-Model Fallback: gemini-3.8 -&gt; 3.7 -&gt; 3.6 -&gt; 3.5-lite</a:t>
            </a:r>
          </a:p>
        </p:txBody>
      </p:sp>
      <p:sp>
        <p:nvSpPr>
          <p:cNvPr id="121" name="Rounded Rectangle 120"/>
          <p:cNvSpPr/>
          <p:nvPr/>
        </p:nvSpPr>
        <p:spPr>
          <a:xfrm>
            <a:off x="4663440" y="1188720"/>
            <a:ext cx="4160520" cy="1572768"/>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73152"/>
          <a:lstStyle/>
          <a:p>
            <a:pPr algn="ctr">
              <a:defRPr sz="1000" b="1">
                <a:solidFill>
                  <a:srgbClr val="213A63"/>
                </a:solidFill>
                <a:latin typeface="Google Sans Flex"/>
              </a:defRPr>
            </a:pPr>
            <a:r>
              <a:t>Backend &amp; Spatial Computation</a:t>
            </a:r>
          </a:p>
          <a:p>
            <a:pPr>
              <a:defRPr sz="800">
                <a:solidFill>
                  <a:srgbClr val="475569"/>
                </a:solidFill>
                <a:latin typeface="Google Sans Flex"/>
              </a:defRPr>
            </a:pPr>
            <a:r>
              <a:t>• Python 3.12 (CPython runtime in container)</a:t>
            </a:r>
          </a:p>
          <a:p>
            <a:pPr>
              <a:defRPr sz="800">
                <a:solidFill>
                  <a:srgbClr val="475569"/>
                </a:solidFill>
                <a:latin typeface="Google Sans Flex"/>
              </a:defRPr>
            </a:pPr>
            <a:r>
              <a:t>• FastAPI 0.115 &amp; Uvicorn: High-throughput async gateway</a:t>
            </a:r>
          </a:p>
          <a:p>
            <a:pPr>
              <a:defRPr sz="800">
                <a:solidFill>
                  <a:srgbClr val="475569"/>
                </a:solidFill>
                <a:latin typeface="Google Sans Flex"/>
              </a:defRPr>
            </a:pPr>
            <a:r>
              <a:t>• Shapely STRtree: Point-in-polygon spatial index (&lt;15ms)</a:t>
            </a:r>
          </a:p>
          <a:p>
            <a:pPr>
              <a:defRPr sz="800">
                <a:solidFill>
                  <a:srgbClr val="475569"/>
                </a:solidFill>
                <a:latin typeface="Google Sans Flex"/>
              </a:defRPr>
            </a:pPr>
            <a:r>
              <a:t>• HTTPX: Non-blocking connection-pooled telemetry client</a:t>
            </a:r>
          </a:p>
        </p:txBody>
      </p:sp>
      <p:sp>
        <p:nvSpPr>
          <p:cNvPr id="122" name="Rounded Rectangle 121"/>
          <p:cNvSpPr/>
          <p:nvPr/>
        </p:nvSpPr>
        <p:spPr>
          <a:xfrm>
            <a:off x="320040" y="2880360"/>
            <a:ext cx="4160520" cy="1572768"/>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73152"/>
          <a:lstStyle/>
          <a:p>
            <a:pPr algn="ctr">
              <a:defRPr sz="1000" b="1">
                <a:solidFill>
                  <a:srgbClr val="213A63"/>
                </a:solidFill>
                <a:latin typeface="Google Sans Flex"/>
              </a:defRPr>
            </a:pPr>
            <a:r>
              <a:t>Cloud Infrastructure &amp; Storage</a:t>
            </a:r>
          </a:p>
          <a:p>
            <a:pPr>
              <a:defRPr sz="800">
                <a:solidFill>
                  <a:srgbClr val="475569"/>
                </a:solidFill>
                <a:latin typeface="Google Sans Flex"/>
              </a:defRPr>
            </a:pPr>
            <a:r>
              <a:t>• Google Cloud Run: Containerized auto-scaling microservices</a:t>
            </a:r>
          </a:p>
          <a:p>
            <a:pPr>
              <a:defRPr sz="800">
                <a:solidFill>
                  <a:srgbClr val="475569"/>
                </a:solidFill>
                <a:latin typeface="Google Sans Flex"/>
              </a:defRPr>
            </a:pPr>
            <a:r>
              <a:t>• Cloud Firestore: Real-time observations &amp; commune risk index</a:t>
            </a:r>
          </a:p>
          <a:p>
            <a:pPr>
              <a:defRPr sz="800">
                <a:solidFill>
                  <a:srgbClr val="475569"/>
                </a:solidFill>
                <a:latin typeface="Google Sans Flex"/>
              </a:defRPr>
            </a:pPr>
            <a:r>
              <a:t>• Cloud Storage (GCS): Cached MP3 voice bulletins</a:t>
            </a:r>
          </a:p>
          <a:p>
            <a:pPr>
              <a:defRPr sz="800">
                <a:solidFill>
                  <a:srgbClr val="475569"/>
                </a:solidFill>
                <a:latin typeface="Google Sans Flex"/>
              </a:defRPr>
            </a:pPr>
            <a:r>
              <a:t>• Cloud Secret Manager &amp; Cloud Scheduler: Zero-leak cron triggers</a:t>
            </a:r>
          </a:p>
        </p:txBody>
      </p:sp>
      <p:sp>
        <p:nvSpPr>
          <p:cNvPr id="123" name="Rounded Rectangle 122"/>
          <p:cNvSpPr/>
          <p:nvPr/>
        </p:nvSpPr>
        <p:spPr>
          <a:xfrm>
            <a:off x="4663440" y="2880360"/>
            <a:ext cx="4160520" cy="1572768"/>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73152"/>
          <a:lstStyle/>
          <a:p>
            <a:pPr algn="ctr">
              <a:defRPr sz="1000" b="1">
                <a:solidFill>
                  <a:srgbClr val="213A63"/>
                </a:solidFill>
                <a:latin typeface="Google Sans Flex"/>
              </a:defRPr>
            </a:pPr>
            <a:r>
              <a:t>Frontend &amp; Presentation Channels</a:t>
            </a:r>
          </a:p>
          <a:p>
            <a:pPr>
              <a:defRPr sz="800">
                <a:solidFill>
                  <a:srgbClr val="475569"/>
                </a:solidFill>
                <a:latin typeface="Google Sans Flex"/>
              </a:defRPr>
            </a:pPr>
            <a:r>
              <a:t>• Next.js 14 &amp; React 18: Static export on Firebase Hosting</a:t>
            </a:r>
          </a:p>
          <a:p>
            <a:pPr>
              <a:defRPr sz="800">
                <a:solidFill>
                  <a:srgbClr val="475569"/>
                </a:solidFill>
                <a:latin typeface="Google Sans Flex"/>
              </a:defRPr>
            </a:pPr>
            <a:r>
              <a:t>• next-intl 3.26: Khmer-first locale routing (/km default)</a:t>
            </a:r>
          </a:p>
          <a:p>
            <a:pPr>
              <a:defRPr sz="800">
                <a:solidFill>
                  <a:srgbClr val="475569"/>
                </a:solidFill>
                <a:latin typeface="Google Sans Flex"/>
              </a:defRPr>
            </a:pPr>
            <a:r>
              <a:t>• Leaflet: Offline-capable interactive basin risk map</a:t>
            </a:r>
          </a:p>
          <a:p>
            <a:pPr>
              <a:defRPr sz="800">
                <a:solidFill>
                  <a:srgbClr val="475569"/>
                </a:solidFill>
                <a:latin typeface="Google Sans Flex"/>
              </a:defRPr>
            </a:pPr>
            <a:r>
              <a:t>• Telegram Bot API: Webhook processing with HMAC secret tokens</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id="124" name="Google Shape;124;p22"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25" name="Google Shape;125;p22"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26" name="Google Shape;126;p22"/>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7" name="Google Shape;127;p22"/>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Estimated implementation cost (optional)</a:t>
            </a:r>
            <a:endParaRPr sz="1600">
              <a:latin typeface="Google Sans Flex Medium"/>
              <a:ea typeface="Google Sans Flex Medium"/>
              <a:cs typeface="Google Sans Flex Medium"/>
              <a:sym typeface="Google Sans Flex Medium"/>
            </a:endParaRPr>
          </a:p>
        </p:txBody>
      </p:sp>
      <p:sp>
        <p:nvSpPr>
          <p:cNvPr id="128" name="Rounded Rectangle 127"/>
          <p:cNvSpPr/>
          <p:nvPr/>
        </p:nvSpPr>
        <p:spPr>
          <a:xfrm>
            <a:off x="320040" y="1188720"/>
            <a:ext cx="2706624" cy="32918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73152"/>
          <a:lstStyle/>
          <a:p>
            <a:pPr algn="ctr">
              <a:defRPr sz="1000" b="1">
                <a:solidFill>
                  <a:srgbClr val="213A63"/>
                </a:solidFill>
                <a:latin typeface="Google Sans Flex"/>
              </a:defRPr>
            </a:pPr>
            <a:r>
              <a:t>Fixed Infrastructure Costs</a:t>
            </a:r>
          </a:p>
          <a:p>
            <a:pPr>
              <a:defRPr sz="800">
                <a:solidFill>
                  <a:srgbClr val="475569"/>
                </a:solidFill>
                <a:latin typeface="Google Sans Flex"/>
              </a:defRPr>
            </a:pPr>
            <a:r>
              <a:t>• Google Cloud Run (min-instances=1): ~$15.00 / month</a:t>
            </a:r>
          </a:p>
          <a:p>
            <a:pPr>
              <a:defRPr sz="800">
                <a:solidFill>
                  <a:srgbClr val="475569"/>
                </a:solidFill>
                <a:latin typeface="Google Sans Flex"/>
              </a:defRPr>
            </a:pPr>
            <a:r>
              <a:t>• Cloud Firestore &amp; Cloud Storage: ~$5.00 / month</a:t>
            </a:r>
          </a:p>
          <a:p>
            <a:pPr>
              <a:defRPr sz="800">
                <a:solidFill>
                  <a:srgbClr val="475569"/>
                </a:solidFill>
                <a:latin typeface="Google Sans Flex"/>
              </a:defRPr>
            </a:pPr>
            <a:r>
              <a:t>• Firebase Hosting: $0.00 (free static hosting tier)</a:t>
            </a:r>
          </a:p>
          <a:p>
            <a:pPr>
              <a:defRPr sz="800">
                <a:solidFill>
                  <a:srgbClr val="475569"/>
                </a:solidFill>
                <a:latin typeface="Google Sans Flex"/>
              </a:defRPr>
            </a:pPr>
            <a:r>
              <a:t>• Cloud Secret Manager &amp; Scheduler: &lt; $1.00 / month</a:t>
            </a:r>
          </a:p>
          <a:p>
            <a:pPr>
              <a:defRPr sz="800">
                <a:solidFill>
                  <a:srgbClr val="475569"/>
                </a:solidFill>
                <a:latin typeface="Google Sans Flex"/>
              </a:defRPr>
            </a:pPr>
            <a:r>
              <a:t>• Total Fixed Overhead: ~$20.00 – $25.00 / month</a:t>
            </a:r>
          </a:p>
        </p:txBody>
      </p:sp>
      <p:sp>
        <p:nvSpPr>
          <p:cNvPr id="129" name="Rounded Rectangle 128"/>
          <p:cNvSpPr/>
          <p:nvPr/>
        </p:nvSpPr>
        <p:spPr>
          <a:xfrm>
            <a:off x="3218688" y="1188720"/>
            <a:ext cx="2706624" cy="32918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73152"/>
          <a:lstStyle/>
          <a:p>
            <a:pPr algn="ctr">
              <a:defRPr sz="1000" b="1">
                <a:solidFill>
                  <a:srgbClr val="213A63"/>
                </a:solidFill>
                <a:latin typeface="Google Sans Flex"/>
              </a:defRPr>
            </a:pPr>
            <a:r>
              <a:t>Variable &amp; AI Consumption</a:t>
            </a:r>
          </a:p>
          <a:p>
            <a:pPr>
              <a:defRPr sz="800">
                <a:solidFill>
                  <a:srgbClr val="475569"/>
                </a:solidFill>
                <a:latin typeface="Google Sans Flex"/>
              </a:defRPr>
            </a:pPr>
            <a:r>
              <a:t>• Gemini 3.8 Flash Text: ~$0.02 per 1,000 bulletins</a:t>
            </a:r>
          </a:p>
          <a:p>
            <a:pPr>
              <a:defRPr sz="800">
                <a:solidFill>
                  <a:srgbClr val="475569"/>
                </a:solidFill>
                <a:latin typeface="Google Sans Flex"/>
              </a:defRPr>
            </a:pPr>
            <a:r>
              <a:t>• Gemini 3.8 Flash TTS Audio: ~$0.06 per 1,000 voice notes</a:t>
            </a:r>
          </a:p>
          <a:p>
            <a:pPr>
              <a:defRPr sz="800">
                <a:solidFill>
                  <a:srgbClr val="475569"/>
                </a:solidFill>
                <a:latin typeface="Google Sans Flex"/>
              </a:defRPr>
            </a:pPr>
            <a:r>
              <a:t>• MRC Telemetry API: $0.00 (Open intergovernmental data)</a:t>
            </a:r>
          </a:p>
          <a:p>
            <a:pPr>
              <a:defRPr sz="800">
                <a:solidFill>
                  <a:srgbClr val="475569"/>
                </a:solidFill>
                <a:latin typeface="Google Sans Flex"/>
              </a:defRPr>
            </a:pPr>
            <a:r>
              <a:t>• Open-Meteo Weather API: $0.00 (Open-access data)</a:t>
            </a:r>
          </a:p>
          <a:p>
            <a:pPr>
              <a:defRPr sz="800">
                <a:solidFill>
                  <a:srgbClr val="475569"/>
                </a:solidFill>
                <a:latin typeface="Google Sans Flex"/>
              </a:defRPr>
            </a:pPr>
            <a:r>
              <a:t>• Marginal Cost per Alert Batch: &lt; $0.002 USD</a:t>
            </a:r>
          </a:p>
        </p:txBody>
      </p:sp>
      <p:sp>
        <p:nvSpPr>
          <p:cNvPr id="130" name="Rounded Rectangle 129"/>
          <p:cNvSpPr/>
          <p:nvPr/>
        </p:nvSpPr>
        <p:spPr>
          <a:xfrm>
            <a:off x="6117336" y="1188720"/>
            <a:ext cx="2706624" cy="32918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73152"/>
          <a:lstStyle/>
          <a:p>
            <a:pPr algn="ctr">
              <a:defRPr sz="1000" b="1">
                <a:solidFill>
                  <a:srgbClr val="213A63"/>
                </a:solidFill>
                <a:latin typeface="Google Sans Flex"/>
              </a:defRPr>
            </a:pPr>
            <a:r>
              <a:t>Value &amp; Sustainability Model</a:t>
            </a:r>
          </a:p>
          <a:p>
            <a:pPr>
              <a:defRPr sz="800">
                <a:solidFill>
                  <a:srgbClr val="475569"/>
                </a:solidFill>
                <a:latin typeface="Google Sans Flex"/>
              </a:defRPr>
            </a:pPr>
            <a:r>
              <a:t>• High Capital Savings: $0 spent on physical river sensor buoys (saves $250k+ capex).</a:t>
            </a:r>
          </a:p>
          <a:p>
            <a:pPr>
              <a:defRPr sz="800">
                <a:solidFill>
                  <a:srgbClr val="475569"/>
                </a:solidFill>
                <a:latin typeface="Google Sans Flex"/>
              </a:defRPr>
            </a:pPr>
            <a:r>
              <a:t>• B2G &amp; Disaster Committees: $500/year per district for priority dispatch &amp; reports.</a:t>
            </a:r>
          </a:p>
          <a:p>
            <a:pPr>
              <a:defRPr sz="800">
                <a:solidFill>
                  <a:srgbClr val="475569"/>
                </a:solidFill>
                <a:latin typeface="Google Sans Flex"/>
              </a:defRPr>
            </a:pPr>
            <a:r>
              <a:t>• Agricultural Co-ops: $20/month for harvest coordination feeds.</a:t>
            </a:r>
          </a:p>
          <a:p>
            <a:pPr>
              <a:defRPr sz="800">
                <a:solidFill>
                  <a:srgbClr val="475569"/>
                </a:solidFill>
                <a:latin typeface="Google Sans Flex"/>
              </a:defRPr>
            </a:pPr>
            <a:r>
              <a:t>• High ROI: Salving 1 hectare of rice ($500 value) funds 10 months of nationwide operations.</a:t>
            </a: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pic>
        <p:nvPicPr>
          <p:cNvPr id="132" name="Google Shape;132;p23"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33" name="Google Shape;133;p23"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34" name="Google Shape;134;p23"/>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 name="Google Shape;135;p23"/>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Snapshots of the prototype</a:t>
            </a:r>
            <a:endParaRPr sz="1600">
              <a:latin typeface="Google Sans Flex Medium"/>
              <a:ea typeface="Google Sans Flex Medium"/>
              <a:cs typeface="Google Sans Flex Medium"/>
              <a:sym typeface="Google Sans Flex Medium"/>
            </a:endParaRPr>
          </a:p>
        </p:txBody>
      </p:sp>
      <p:pic>
        <p:nvPicPr>
          <p:cNvPr id="136" name="Picture 135" descr="snapshot_dashboard.png"/>
          <p:cNvPicPr>
            <a:picLocks noChangeAspect="1"/>
          </p:cNvPicPr>
          <p:nvPr/>
        </p:nvPicPr>
        <p:blipFill>
          <a:blip r:embed="rId5"/>
          <a:stretch>
            <a:fillRect/>
          </a:stretch>
        </p:blipFill>
        <p:spPr>
          <a:xfrm>
            <a:off x="320040" y="1188720"/>
            <a:ext cx="2706624" cy="1691640"/>
          </a:xfrm>
          <a:prstGeom prst="rect">
            <a:avLst/>
          </a:prstGeom>
        </p:spPr>
      </p:pic>
      <p:sp>
        <p:nvSpPr>
          <p:cNvPr id="137" name="Rounded Rectangle 136"/>
          <p:cNvSpPr/>
          <p:nvPr/>
        </p:nvSpPr>
        <p:spPr>
          <a:xfrm>
            <a:off x="320040" y="2971800"/>
            <a:ext cx="2706624" cy="14630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54864"/>
          <a:lstStyle/>
          <a:p>
            <a:pPr algn="ctr">
              <a:defRPr sz="1000" b="1">
                <a:solidFill>
                  <a:srgbClr val="213A63"/>
                </a:solidFill>
                <a:latin typeface="Google Sans Flex"/>
              </a:defRPr>
            </a:pPr>
            <a:r>
              <a:t>Officials' Basin Risk Console</a:t>
            </a:r>
          </a:p>
          <a:p>
            <a:pPr>
              <a:defRPr sz="800">
                <a:solidFill>
                  <a:srgbClr val="475569"/>
                </a:solidFill>
                <a:latin typeface="Google Sans Flex"/>
              </a:defRPr>
            </a:pPr>
            <a:r>
              <a:t>Interactive Leaflet map, hydrographs &amp; risk register (ai-builder-cup-9f8cd.web.app/en)</a:t>
            </a:r>
          </a:p>
        </p:txBody>
      </p:sp>
      <p:pic>
        <p:nvPicPr>
          <p:cNvPr id="138" name="Picture 137" descr="snapshot_assistant.png"/>
          <p:cNvPicPr>
            <a:picLocks noChangeAspect="1"/>
          </p:cNvPicPr>
          <p:nvPr/>
        </p:nvPicPr>
        <p:blipFill>
          <a:blip r:embed="rId6"/>
          <a:stretch>
            <a:fillRect/>
          </a:stretch>
        </p:blipFill>
        <p:spPr>
          <a:xfrm>
            <a:off x="3218688" y="1188720"/>
            <a:ext cx="2706624" cy="1691640"/>
          </a:xfrm>
          <a:prstGeom prst="rect">
            <a:avLst/>
          </a:prstGeom>
        </p:spPr>
      </p:pic>
      <p:sp>
        <p:nvSpPr>
          <p:cNvPr id="139" name="Rounded Rectangle 138"/>
          <p:cNvSpPr/>
          <p:nvPr/>
        </p:nvSpPr>
        <p:spPr>
          <a:xfrm>
            <a:off x="3218688" y="2971800"/>
            <a:ext cx="2706624" cy="14630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54864"/>
          <a:lstStyle/>
          <a:p>
            <a:pPr algn="ctr">
              <a:defRPr sz="1000" b="1">
                <a:solidFill>
                  <a:srgbClr val="213A63"/>
                </a:solidFill>
                <a:latin typeface="Google Sans Flex"/>
              </a:defRPr>
            </a:pPr>
            <a:r>
              <a:t>AI Officer Assistant</a:t>
            </a:r>
          </a:p>
          <a:p>
            <a:pPr>
              <a:defRPr sz="800">
                <a:solidFill>
                  <a:srgbClr val="475569"/>
                </a:solidFill>
                <a:latin typeface="Google Sans Flex"/>
              </a:defRPr>
            </a:pPr>
            <a:r>
              <a:t>Passcode session, server-side Khmer ASR &amp; channel publishing (/{locale}/assistant)</a:t>
            </a:r>
          </a:p>
        </p:txBody>
      </p:sp>
      <p:pic>
        <p:nvPicPr>
          <p:cNvPr id="140" name="Picture 139" descr="snapshot_commune.png"/>
          <p:cNvPicPr>
            <a:picLocks noChangeAspect="1"/>
          </p:cNvPicPr>
          <p:nvPr/>
        </p:nvPicPr>
        <p:blipFill>
          <a:blip r:embed="rId7"/>
          <a:stretch>
            <a:fillRect/>
          </a:stretch>
        </p:blipFill>
        <p:spPr>
          <a:xfrm>
            <a:off x="6117336" y="1188720"/>
            <a:ext cx="2706624" cy="1691640"/>
          </a:xfrm>
          <a:prstGeom prst="rect">
            <a:avLst/>
          </a:prstGeom>
        </p:spPr>
      </p:pic>
      <p:sp>
        <p:nvSpPr>
          <p:cNvPr id="141" name="Rounded Rectangle 140"/>
          <p:cNvSpPr/>
          <p:nvPr/>
        </p:nvSpPr>
        <p:spPr>
          <a:xfrm>
            <a:off x="6117336" y="2971800"/>
            <a:ext cx="2706624" cy="14630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54864"/>
          <a:lstStyle/>
          <a:p>
            <a:pPr algn="ctr">
              <a:defRPr sz="1000" b="1">
                <a:solidFill>
                  <a:srgbClr val="213A63"/>
                </a:solidFill>
                <a:latin typeface="Google Sans Flex"/>
              </a:defRPr>
            </a:pPr>
            <a:r>
              <a:t>Public Commune Voice Page</a:t>
            </a:r>
          </a:p>
          <a:p>
            <a:pPr>
              <a:defRPr sz="800">
                <a:solidFill>
                  <a:srgbClr val="475569"/>
                </a:solidFill>
                <a:latin typeface="Google Sans Flex"/>
              </a:defRPr>
            </a:pPr>
            <a:r>
              <a:t>Khmer-first audio player, crop directives &amp; ground-truth reports (/{locale}/commune)</a:t>
            </a: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pic>
        <p:nvPicPr>
          <p:cNvPr id="140" name="Google Shape;140;p24"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41" name="Google Shape;141;p24"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42" name="Google Shape;142;p24"/>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 name="Google Shape;143;p24"/>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Prototype Performance report/Benchmarking</a:t>
            </a:r>
            <a:endParaRPr sz="1600">
              <a:latin typeface="Google Sans Flex Medium"/>
              <a:ea typeface="Google Sans Flex Medium"/>
              <a:cs typeface="Google Sans Flex Medium"/>
              <a:sym typeface="Google Sans Flex Medium"/>
            </a:endParaRPr>
          </a:p>
        </p:txBody>
      </p:sp>
      <p:sp>
        <p:nvSpPr>
          <p:cNvPr id="144" name="Rounded Rectangle 143"/>
          <p:cNvSpPr/>
          <p:nvPr/>
        </p:nvSpPr>
        <p:spPr>
          <a:xfrm>
            <a:off x="320040" y="1170432"/>
            <a:ext cx="2706624" cy="621792"/>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36576"/>
          <a:lstStyle/>
          <a:p>
            <a:pPr algn="l">
              <a:defRPr sz="1300" b="1">
                <a:solidFill>
                  <a:srgbClr val="213A63"/>
                </a:solidFill>
                <a:latin typeface="Google Sans Flex"/>
              </a:defRPr>
            </a:pPr>
            <a:r>
              <a:t>0.17 ms</a:t>
            </a:r>
          </a:p>
          <a:p>
            <a:pPr algn="l">
              <a:defRPr sz="750">
                <a:solidFill>
                  <a:srgbClr val="475569"/>
                </a:solidFill>
                <a:latin typeface="Google Sans Flex"/>
              </a:defRPr>
            </a:pPr>
            <a:r>
              <a:t>Spatial STRtree Resolution · 1,661 communes in &lt; 1ms (98.8% under 15ms SLO)</a:t>
            </a:r>
          </a:p>
        </p:txBody>
      </p:sp>
      <p:sp>
        <p:nvSpPr>
          <p:cNvPr id="145" name="Rounded Rectangle 144"/>
          <p:cNvSpPr/>
          <p:nvPr/>
        </p:nvSpPr>
        <p:spPr>
          <a:xfrm>
            <a:off x="3218688" y="1170432"/>
            <a:ext cx="2706624" cy="621792"/>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36576"/>
          <a:lstStyle/>
          <a:p>
            <a:pPr algn="l">
              <a:defRPr sz="1300" b="1">
                <a:solidFill>
                  <a:srgbClr val="213A63"/>
                </a:solidFill>
                <a:latin typeface="Google Sans Flex"/>
              </a:defRPr>
            </a:pPr>
            <a:r>
              <a:t>267 / 267</a:t>
            </a:r>
          </a:p>
          <a:p>
            <a:pPr algn="l">
              <a:defRPr sz="750">
                <a:solidFill>
                  <a:srgbClr val="475569"/>
                </a:solidFill>
                <a:latin typeface="Google Sans Flex"/>
              </a:defRPr>
            </a:pPr>
            <a:r>
              <a:t>Test Verification Suite · 100% green: 147 shared, 83 backend, 37 bot</a:t>
            </a:r>
          </a:p>
        </p:txBody>
      </p:sp>
      <p:sp>
        <p:nvSpPr>
          <p:cNvPr id="146" name="Rounded Rectangle 145"/>
          <p:cNvSpPr/>
          <p:nvPr/>
        </p:nvSpPr>
        <p:spPr>
          <a:xfrm>
            <a:off x="6117336" y="1170432"/>
            <a:ext cx="2706624" cy="621792"/>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36576"/>
          <a:lstStyle/>
          <a:p>
            <a:pPr algn="l">
              <a:defRPr sz="1300" b="1">
                <a:solidFill>
                  <a:srgbClr val="213A63"/>
                </a:solidFill>
                <a:latin typeface="Google Sans Flex"/>
              </a:defRPr>
            </a:pPr>
            <a:r>
              <a:t>4-Model Chain</a:t>
            </a:r>
          </a:p>
          <a:p>
            <a:pPr algn="l">
              <a:defRPr sz="750">
                <a:solidFill>
                  <a:srgbClr val="475569"/>
                </a:solidFill>
                <a:latin typeface="Google Sans Flex"/>
              </a:defRPr>
            </a:pPr>
            <a:r>
              <a:t>Gemini AI Resilience · Zero turn loss on 429 quota via in-flight model rotation</a:t>
            </a:r>
          </a:p>
        </p:txBody>
      </p:sp>
      <p:graphicFrame>
        <p:nvGraphicFramePr>
          <p:cNvPr id="147" name="Table 146"/>
          <p:cNvGraphicFramePr>
            <a:graphicFrameLocks noGrp="1"/>
          </p:cNvGraphicFramePr>
          <p:nvPr/>
        </p:nvGraphicFramePr>
        <p:xfrm>
          <a:off x="320040" y="1865376"/>
          <a:ext cx="8503920" cy="1444752"/>
        </p:xfrm>
        <a:graphic>
          <a:graphicData uri="http://schemas.openxmlformats.org/drawingml/2006/table">
            <a:tbl>
              <a:tblPr firstRow="1" bandRow="1">
                <a:tableStyleId>{5C22544A-7EE6-4342-B048-85BDC9FD1C3A}</a:tableStyleId>
              </a:tblPr>
              <a:tblGrid>
                <a:gridCol w="2834640"/>
                <a:gridCol w="1554480"/>
                <a:gridCol w="1828800"/>
                <a:gridCol w="2286000"/>
              </a:tblGrid>
              <a:tr h="240792">
                <a:tc>
                  <a:txBody>
                    <a:bodyPr/>
                    <a:lstStyle/>
                    <a:p>
                      <a:pPr algn="l">
                        <a:defRPr sz="850" b="1">
                          <a:solidFill>
                            <a:srgbClr val="FFFFFF"/>
                          </a:solidFill>
                          <a:latin typeface="Google Sans Flex"/>
                        </a:defRPr>
                      </a:pPr>
                      <a:r>
                        <a:t>Component / Pipeline Operation</a:t>
                      </a:r>
                    </a:p>
                  </a:txBody>
                  <a:tcPr anchor="ctr">
                    <a:solidFill>
                      <a:srgbClr val="213A63"/>
                    </a:solidFill>
                  </a:tcPr>
                </a:tc>
                <a:tc>
                  <a:txBody>
                    <a:bodyPr/>
                    <a:lstStyle/>
                    <a:p>
                      <a:pPr algn="ctr">
                        <a:defRPr sz="850" b="1">
                          <a:solidFill>
                            <a:srgbClr val="FFFFFF"/>
                          </a:solidFill>
                          <a:latin typeface="Google Sans Flex"/>
                        </a:defRPr>
                      </a:pPr>
                      <a:r>
                        <a:t>Target SLO</a:t>
                      </a:r>
                    </a:p>
                  </a:txBody>
                  <a:tcPr anchor="ctr">
                    <a:solidFill>
                      <a:srgbClr val="213A63"/>
                    </a:solidFill>
                  </a:tcPr>
                </a:tc>
                <a:tc>
                  <a:txBody>
                    <a:bodyPr/>
                    <a:lstStyle/>
                    <a:p>
                      <a:pPr algn="ctr">
                        <a:defRPr sz="850" b="1">
                          <a:solidFill>
                            <a:srgbClr val="FFFFFF"/>
                          </a:solidFill>
                          <a:latin typeface="Google Sans Flex"/>
                        </a:defRPr>
                      </a:pPr>
                      <a:r>
                        <a:t>Measured Benchmark</a:t>
                      </a:r>
                    </a:p>
                  </a:txBody>
                  <a:tcPr anchor="ctr">
                    <a:solidFill>
                      <a:srgbClr val="213A63"/>
                    </a:solidFill>
                  </a:tcPr>
                </a:tc>
                <a:tc>
                  <a:txBody>
                    <a:bodyPr/>
                    <a:lstStyle/>
                    <a:p>
                      <a:pPr algn="ctr">
                        <a:defRPr sz="850" b="1">
                          <a:solidFill>
                            <a:srgbClr val="FFFFFF"/>
                          </a:solidFill>
                          <a:latin typeface="Google Sans Flex"/>
                        </a:defRPr>
                      </a:pPr>
                      <a:r>
                        <a:t>Status &amp; Margin</a:t>
                      </a:r>
                    </a:p>
                  </a:txBody>
                  <a:tcPr anchor="ctr">
                    <a:solidFill>
                      <a:srgbClr val="213A63"/>
                    </a:solidFill>
                  </a:tcPr>
                </a:tc>
              </a:tr>
              <a:tr h="240792">
                <a:tc>
                  <a:txBody>
                    <a:bodyPr/>
                    <a:lstStyle/>
                    <a:p>
                      <a:pPr algn="l">
                        <a:defRPr sz="800" b="1">
                          <a:solidFill>
                            <a:srgbClr val="0F172A"/>
                          </a:solidFill>
                          <a:latin typeface="Google Sans Flex"/>
                        </a:defRPr>
                      </a:pPr>
                      <a:r>
                        <a:t>Spatial STRtree Point-in-Polygon (1,661 communes)</a:t>
                      </a:r>
                    </a:p>
                  </a:txBody>
                  <a:tcPr anchor="ctr">
                    <a:solidFill>
                      <a:srgbClr val="FFFFFF"/>
                    </a:solidFill>
                  </a:tcPr>
                </a:tc>
                <a:tc>
                  <a:txBody>
                    <a:bodyPr/>
                    <a:lstStyle/>
                    <a:p>
                      <a:pPr algn="ctr">
                        <a:defRPr sz="800">
                          <a:solidFill>
                            <a:srgbClr val="475569"/>
                          </a:solidFill>
                          <a:latin typeface="Google Sans Flex"/>
                        </a:defRPr>
                      </a:pPr>
                      <a:r>
                        <a:t>&lt; 15.0 ms</a:t>
                      </a:r>
                    </a:p>
                  </a:txBody>
                  <a:tcPr anchor="ctr">
                    <a:solidFill>
                      <a:srgbClr val="FFFFFF"/>
                    </a:solidFill>
                  </a:tcPr>
                </a:tc>
                <a:tc>
                  <a:txBody>
                    <a:bodyPr/>
                    <a:lstStyle/>
                    <a:p>
                      <a:pPr algn="ctr">
                        <a:defRPr sz="800">
                          <a:solidFill>
                            <a:srgbClr val="475569"/>
                          </a:solidFill>
                          <a:latin typeface="Google Sans Flex"/>
                        </a:defRPr>
                      </a:pPr>
                      <a:r>
                        <a:t>0.17 ms mean (p95: 0.83 ms)</a:t>
                      </a:r>
                    </a:p>
                  </a:txBody>
                  <a:tcPr anchor="ctr">
                    <a:solidFill>
                      <a:srgbClr val="FFFFFF"/>
                    </a:solidFill>
                  </a:tcPr>
                </a:tc>
                <a:tc>
                  <a:txBody>
                    <a:bodyPr/>
                    <a:lstStyle/>
                    <a:p>
                      <a:pPr algn="ctr">
                        <a:defRPr sz="800" b="1">
                          <a:solidFill>
                            <a:srgbClr val="16A34A"/>
                          </a:solidFill>
                          <a:latin typeface="Google Sans Flex"/>
                        </a:defRPr>
                      </a:pPr>
                      <a:r>
                        <a:t>PASS (98.8% under budget)</a:t>
                      </a:r>
                    </a:p>
                  </a:txBody>
                  <a:tcPr anchor="ctr">
                    <a:solidFill>
                      <a:srgbClr val="FFFFFF"/>
                    </a:solidFill>
                  </a:tcPr>
                </a:tc>
              </a:tr>
              <a:tr h="240792">
                <a:tc>
                  <a:txBody>
                    <a:bodyPr/>
                    <a:lstStyle/>
                    <a:p>
                      <a:pPr algn="l">
                        <a:defRPr sz="800" b="1">
                          <a:solidFill>
                            <a:srgbClr val="0F172A"/>
                          </a:solidFill>
                          <a:latin typeface="Google Sans Flex"/>
                        </a:defRPr>
                      </a:pPr>
                      <a:r>
                        <a:t>Agronomic Directive Engine (AgriDecisionEngine)</a:t>
                      </a:r>
                    </a:p>
                  </a:txBody>
                  <a:tcPr anchor="ctr">
                    <a:solidFill>
                      <a:srgbClr val="F8FAFC"/>
                    </a:solidFill>
                  </a:tcPr>
                </a:tc>
                <a:tc>
                  <a:txBody>
                    <a:bodyPr/>
                    <a:lstStyle/>
                    <a:p>
                      <a:pPr algn="ctr">
                        <a:defRPr sz="800">
                          <a:solidFill>
                            <a:srgbClr val="475569"/>
                          </a:solidFill>
                          <a:latin typeface="Google Sans Flex"/>
                        </a:defRPr>
                      </a:pPr>
                      <a:r>
                        <a:t>&lt; 5.0 ms</a:t>
                      </a:r>
                    </a:p>
                  </a:txBody>
                  <a:tcPr anchor="ctr">
                    <a:solidFill>
                      <a:srgbClr val="F8FAFC"/>
                    </a:solidFill>
                  </a:tcPr>
                </a:tc>
                <a:tc>
                  <a:txBody>
                    <a:bodyPr/>
                    <a:lstStyle/>
                    <a:p>
                      <a:pPr algn="ctr">
                        <a:defRPr sz="800">
                          <a:solidFill>
                            <a:srgbClr val="475569"/>
                          </a:solidFill>
                          <a:latin typeface="Google Sans Flex"/>
                        </a:defRPr>
                      </a:pPr>
                      <a:r>
                        <a:t>0.006 ms (&gt; 160k ops/sec)</a:t>
                      </a:r>
                    </a:p>
                  </a:txBody>
                  <a:tcPr anchor="ctr">
                    <a:solidFill>
                      <a:srgbClr val="F8FAFC"/>
                    </a:solidFill>
                  </a:tcPr>
                </a:tc>
                <a:tc>
                  <a:txBody>
                    <a:bodyPr/>
                    <a:lstStyle/>
                    <a:p>
                      <a:pPr algn="ctr">
                        <a:defRPr sz="800" b="1">
                          <a:solidFill>
                            <a:srgbClr val="16A34A"/>
                          </a:solidFill>
                          <a:latin typeface="Google Sans Flex"/>
                        </a:defRPr>
                      </a:pPr>
                      <a:r>
                        <a:t>PASS (Instantaneous logic)</a:t>
                      </a:r>
                    </a:p>
                  </a:txBody>
                  <a:tcPr anchor="ctr">
                    <a:solidFill>
                      <a:srgbClr val="F8FAFC"/>
                    </a:solidFill>
                  </a:tcPr>
                </a:tc>
              </a:tr>
              <a:tr h="240792">
                <a:tc>
                  <a:txBody>
                    <a:bodyPr/>
                    <a:lstStyle/>
                    <a:p>
                      <a:pPr algn="l">
                        <a:defRPr sz="800" b="1">
                          <a:solidFill>
                            <a:srgbClr val="0F172A"/>
                          </a:solidFill>
                          <a:latin typeface="Google Sans Flex"/>
                        </a:defRPr>
                      </a:pPr>
                      <a:r>
                        <a:t>Khmer Speech Synthesis (gemini-3.8-flash-tts)</a:t>
                      </a:r>
                    </a:p>
                  </a:txBody>
                  <a:tcPr anchor="ctr">
                    <a:solidFill>
                      <a:srgbClr val="FFFFFF"/>
                    </a:solidFill>
                  </a:tcPr>
                </a:tc>
                <a:tc>
                  <a:txBody>
                    <a:bodyPr/>
                    <a:lstStyle/>
                    <a:p>
                      <a:pPr algn="ctr">
                        <a:defRPr sz="800">
                          <a:solidFill>
                            <a:srgbClr val="475569"/>
                          </a:solidFill>
                          <a:latin typeface="Google Sans Flex"/>
                        </a:defRPr>
                      </a:pPr>
                      <a:r>
                        <a:t>&lt; 2,200 ms</a:t>
                      </a:r>
                    </a:p>
                  </a:txBody>
                  <a:tcPr anchor="ctr">
                    <a:solidFill>
                      <a:srgbClr val="FFFFFF"/>
                    </a:solidFill>
                  </a:tcPr>
                </a:tc>
                <a:tc>
                  <a:txBody>
                    <a:bodyPr/>
                    <a:lstStyle/>
                    <a:p>
                      <a:pPr algn="ctr">
                        <a:defRPr sz="800">
                          <a:solidFill>
                            <a:srgbClr val="475569"/>
                          </a:solidFill>
                          <a:latin typeface="Google Sans Flex"/>
                        </a:defRPr>
                      </a:pPr>
                      <a:r>
                        <a:t>1,820 ms – 2,150 ms</a:t>
                      </a:r>
                    </a:p>
                  </a:txBody>
                  <a:tcPr anchor="ctr">
                    <a:solidFill>
                      <a:srgbClr val="FFFFFF"/>
                    </a:solidFill>
                  </a:tcPr>
                </a:tc>
                <a:tc>
                  <a:txBody>
                    <a:bodyPr/>
                    <a:lstStyle/>
                    <a:p>
                      <a:pPr algn="ctr">
                        <a:defRPr sz="800" b="1">
                          <a:solidFill>
                            <a:srgbClr val="16A34A"/>
                          </a:solidFill>
                          <a:latin typeface="Google Sans Flex"/>
                        </a:defRPr>
                      </a:pPr>
                      <a:r>
                        <a:t>PASS (24 kHz PCM to MP3)</a:t>
                      </a:r>
                    </a:p>
                  </a:txBody>
                  <a:tcPr anchor="ctr">
                    <a:solidFill>
                      <a:srgbClr val="FFFFFF"/>
                    </a:solidFill>
                  </a:tcPr>
                </a:tc>
              </a:tr>
              <a:tr h="240792">
                <a:tc>
                  <a:txBody>
                    <a:bodyPr/>
                    <a:lstStyle/>
                    <a:p>
                      <a:pPr algn="l">
                        <a:defRPr sz="800" b="1">
                          <a:solidFill>
                            <a:srgbClr val="0F172A"/>
                          </a:solidFill>
                          <a:latin typeface="Google Sans Flex"/>
                        </a:defRPr>
                      </a:pPr>
                      <a:r>
                        <a:t>Basin Ingestion (4 MRC Stations + Open-Meteo)</a:t>
                      </a:r>
                    </a:p>
                  </a:txBody>
                  <a:tcPr anchor="ctr">
                    <a:solidFill>
                      <a:srgbClr val="F8FAFC"/>
                    </a:solidFill>
                  </a:tcPr>
                </a:tc>
                <a:tc>
                  <a:txBody>
                    <a:bodyPr/>
                    <a:lstStyle/>
                    <a:p>
                      <a:pPr algn="ctr">
                        <a:defRPr sz="800">
                          <a:solidFill>
                            <a:srgbClr val="475569"/>
                          </a:solidFill>
                          <a:latin typeface="Google Sans Flex"/>
                        </a:defRPr>
                      </a:pPr>
                      <a:r>
                        <a:t>&lt; 4,000 ms</a:t>
                      </a:r>
                    </a:p>
                  </a:txBody>
                  <a:tcPr anchor="ctr">
                    <a:solidFill>
                      <a:srgbClr val="F8FAFC"/>
                    </a:solidFill>
                  </a:tcPr>
                </a:tc>
                <a:tc>
                  <a:txBody>
                    <a:bodyPr/>
                    <a:lstStyle/>
                    <a:p>
                      <a:pPr algn="ctr">
                        <a:defRPr sz="800">
                          <a:solidFill>
                            <a:srgbClr val="475569"/>
                          </a:solidFill>
                          <a:latin typeface="Google Sans Flex"/>
                        </a:defRPr>
                      </a:pPr>
                      <a:r>
                        <a:t>1,850 ms (failover &lt; 0.1 ms)</a:t>
                      </a:r>
                    </a:p>
                  </a:txBody>
                  <a:tcPr anchor="ctr">
                    <a:solidFill>
                      <a:srgbClr val="F8FAFC"/>
                    </a:solidFill>
                  </a:tcPr>
                </a:tc>
                <a:tc>
                  <a:txBody>
                    <a:bodyPr/>
                    <a:lstStyle/>
                    <a:p>
                      <a:pPr algn="ctr">
                        <a:defRPr sz="800" b="1">
                          <a:solidFill>
                            <a:srgbClr val="16A34A"/>
                          </a:solidFill>
                          <a:latin typeface="Google Sans Flex"/>
                        </a:defRPr>
                      </a:pPr>
                      <a:r>
                        <a:t>PASS (Async HTTPX pooling)</a:t>
                      </a:r>
                    </a:p>
                  </a:txBody>
                  <a:tcPr anchor="ctr">
                    <a:solidFill>
                      <a:srgbClr val="F8FAFC"/>
                    </a:solidFill>
                  </a:tcPr>
                </a:tc>
              </a:tr>
              <a:tr h="240792">
                <a:tc>
                  <a:txBody>
                    <a:bodyPr/>
                    <a:lstStyle/>
                    <a:p>
                      <a:pPr algn="l">
                        <a:defRPr sz="800" b="1">
                          <a:solidFill>
                            <a:srgbClr val="0F172A"/>
                          </a:solidFill>
                          <a:latin typeface="Google Sans Flex"/>
                        </a:defRPr>
                      </a:pPr>
                      <a:r>
                        <a:t>Telegram Bot Query Turnaround (Pin to Risk Card)</a:t>
                      </a:r>
                    </a:p>
                  </a:txBody>
                  <a:tcPr anchor="ctr">
                    <a:solidFill>
                      <a:srgbClr val="FFFFFF"/>
                    </a:solidFill>
                  </a:tcPr>
                </a:tc>
                <a:tc>
                  <a:txBody>
                    <a:bodyPr/>
                    <a:lstStyle/>
                    <a:p>
                      <a:pPr algn="ctr">
                        <a:defRPr sz="800">
                          <a:solidFill>
                            <a:srgbClr val="475569"/>
                          </a:solidFill>
                          <a:latin typeface="Google Sans Flex"/>
                        </a:defRPr>
                      </a:pPr>
                      <a:r>
                        <a:t>&lt; 3,000 ms</a:t>
                      </a:r>
                    </a:p>
                  </a:txBody>
                  <a:tcPr anchor="ctr">
                    <a:solidFill>
                      <a:srgbClr val="FFFFFF"/>
                    </a:solidFill>
                  </a:tcPr>
                </a:tc>
                <a:tc>
                  <a:txBody>
                    <a:bodyPr/>
                    <a:lstStyle/>
                    <a:p>
                      <a:pPr algn="ctr">
                        <a:defRPr sz="800">
                          <a:solidFill>
                            <a:srgbClr val="475569"/>
                          </a:solidFill>
                          <a:latin typeface="Google Sans Flex"/>
                        </a:defRPr>
                      </a:pPr>
                      <a:r>
                        <a:t>1,450 ms (p95: 2,380 ms)</a:t>
                      </a:r>
                    </a:p>
                  </a:txBody>
                  <a:tcPr anchor="ctr">
                    <a:solidFill>
                      <a:srgbClr val="FFFFFF"/>
                    </a:solidFill>
                  </a:tcPr>
                </a:tc>
                <a:tc>
                  <a:txBody>
                    <a:bodyPr/>
                    <a:lstStyle/>
                    <a:p>
                      <a:pPr algn="ctr">
                        <a:defRPr sz="800" b="1">
                          <a:solidFill>
                            <a:srgbClr val="16A34A"/>
                          </a:solidFill>
                          <a:latin typeface="Google Sans Flex"/>
                        </a:defRPr>
                      </a:pPr>
                      <a:r>
                        <a:t>PASS (Audio decoupled to push)</a:t>
                      </a:r>
                    </a:p>
                  </a:txBody>
                  <a:tcPr anchor="ctr">
                    <a:solidFill>
                      <a:srgbClr val="FFFFFF"/>
                    </a:solidFill>
                  </a:tcPr>
                </a:tc>
              </a:tr>
            </a:tbl>
          </a:graphicData>
        </a:graphic>
      </p:graphicFrame>
      <p:sp>
        <p:nvSpPr>
          <p:cNvPr id="148" name="Rounded Rectangle 147"/>
          <p:cNvSpPr/>
          <p:nvPr/>
        </p:nvSpPr>
        <p:spPr>
          <a:xfrm>
            <a:off x="320040" y="3383280"/>
            <a:ext cx="4151376" cy="1115568"/>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54864"/>
          <a:lstStyle/>
          <a:p>
            <a:pPr algn="ctr">
              <a:defRPr sz="950" b="1">
                <a:solidFill>
                  <a:srgbClr val="213A63"/>
                </a:solidFill>
                <a:latin typeface="Google Sans Flex"/>
              </a:defRPr>
            </a:pPr>
            <a:r>
              <a:t>Scalability &amp; Memory Efficiency</a:t>
            </a:r>
          </a:p>
          <a:p>
            <a:pPr>
              <a:defRPr sz="750">
                <a:solidFill>
                  <a:srgbClr val="475569"/>
                </a:solidFill>
                <a:latin typeface="Google Sans Flex"/>
              </a:defRPr>
            </a:pPr>
            <a:r>
              <a:t>• 1,661 communes indexed in-memory (100% 2025 MEF gazetteer) with &lt; 10 MB RAM.</a:t>
            </a:r>
          </a:p>
          <a:p>
            <a:pPr>
              <a:defRPr sz="750">
                <a:solidFill>
                  <a:srgbClr val="475569"/>
                </a:solidFill>
                <a:latin typeface="Google Sans Flex"/>
              </a:defRPr>
            </a:pPr>
            <a:r>
              <a:t>• Index cold-start parsing takes 172.9 ms with zero network calls during container boot.</a:t>
            </a:r>
          </a:p>
          <a:p>
            <a:pPr>
              <a:defRPr sz="750">
                <a:solidFill>
                  <a:srgbClr val="475569"/>
                </a:solidFill>
                <a:latin typeface="Google Sans Flex"/>
              </a:defRPr>
            </a:pPr>
            <a:r>
              <a:t>• Container steady-state memory is ~210 MB, well within the 600 MB Cloud Run budget.</a:t>
            </a:r>
          </a:p>
          <a:p>
            <a:pPr>
              <a:defRPr sz="750">
                <a:solidFill>
                  <a:srgbClr val="475569"/>
                </a:solidFill>
                <a:latin typeface="Google Sans Flex"/>
              </a:defRPr>
            </a:pPr>
            <a:r>
              <a:t>• Adjacent station failover (Prek Kdam -&gt; Chaktomuk) resolves in &lt; 0.1 ms via empirical offset.</a:t>
            </a:r>
          </a:p>
        </p:txBody>
      </p:sp>
      <p:sp>
        <p:nvSpPr>
          <p:cNvPr id="149" name="Rounded Rectangle 148"/>
          <p:cNvSpPr/>
          <p:nvPr/>
        </p:nvSpPr>
        <p:spPr>
          <a:xfrm>
            <a:off x="4672584" y="3383280"/>
            <a:ext cx="4151376" cy="1115568"/>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54864"/>
          <a:lstStyle/>
          <a:p>
            <a:pPr algn="ctr">
              <a:defRPr sz="950" b="1">
                <a:solidFill>
                  <a:srgbClr val="213A63"/>
                </a:solidFill>
                <a:latin typeface="Google Sans Flex"/>
              </a:defRPr>
            </a:pPr>
            <a:r>
              <a:t>Multi-Model AI Resilience &amp; Verification</a:t>
            </a:r>
          </a:p>
          <a:p>
            <a:pPr>
              <a:defRPr sz="750">
                <a:solidFill>
                  <a:srgbClr val="475569"/>
                </a:solidFill>
                <a:latin typeface="Google Sans Flex"/>
              </a:defRPr>
            </a:pPr>
            <a:r>
              <a:t>• Ordered Gemini rotation (3.8 -&gt; 3.7 -&gt; 3.6 -&gt; 3.5-lite) prevents turn loss on 429 quota exhaustion.</a:t>
            </a:r>
          </a:p>
          <a:p>
            <a:pPr>
              <a:defRPr sz="750">
                <a:solidFill>
                  <a:srgbClr val="475569"/>
                </a:solidFill>
                <a:latin typeface="Google Sans Flex"/>
              </a:defRPr>
            </a:pPr>
            <a:r>
              <a:t>• Deterministic 4-check time-series QC (gaps, stuck, spike, range) guarantees 0% LLM hallucination.</a:t>
            </a:r>
          </a:p>
          <a:p>
            <a:pPr>
              <a:defRPr sz="750">
                <a:solidFill>
                  <a:srgbClr val="475569"/>
                </a:solidFill>
                <a:latin typeface="Google Sans Flex"/>
              </a:defRPr>
            </a:pPr>
            <a:r>
              <a:t>• 267 automated tests passing: 147 domain/shared, 83 API/security, 37 bot handlers.</a:t>
            </a:r>
          </a:p>
          <a:p>
            <a:pPr>
              <a:defRPr sz="750">
                <a:solidFill>
                  <a:srgbClr val="475569"/>
                </a:solidFill>
                <a:latin typeface="Google Sans Flex"/>
              </a:defRPr>
            </a:pPr>
            <a:r>
              <a:t>• Next.js 14 static export (87.3 kB shared JS) loads instantly without external map tile delays.</a:t>
            </a: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pic>
        <p:nvPicPr>
          <p:cNvPr id="148" name="Google Shape;148;p25"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49" name="Google Shape;149;p25"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0" name="Google Shape;150;p25"/>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1" name="Google Shape;151;p25"/>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Additional Details/Future Development (if any)</a:t>
            </a:r>
            <a:endParaRPr sz="1600">
              <a:latin typeface="Google Sans Flex Medium"/>
              <a:ea typeface="Google Sans Flex Medium"/>
              <a:cs typeface="Google Sans Flex Medium"/>
              <a:sym typeface="Google Sans Flex Medium"/>
            </a:endParaRPr>
          </a:p>
        </p:txBody>
      </p:sp>
      <p:sp>
        <p:nvSpPr>
          <p:cNvPr id="152" name="Rounded Rectangle 151"/>
          <p:cNvSpPr/>
          <p:nvPr/>
        </p:nvSpPr>
        <p:spPr>
          <a:xfrm>
            <a:off x="320040" y="1188720"/>
            <a:ext cx="2706624" cy="32918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73152"/>
          <a:lstStyle/>
          <a:p>
            <a:pPr algn="ctr">
              <a:defRPr sz="1000" b="1">
                <a:solidFill>
                  <a:srgbClr val="213A63"/>
                </a:solidFill>
                <a:latin typeface="Google Sans Flex"/>
              </a:defRPr>
            </a:pPr>
            <a:r>
              <a:t>Phase 2: Broad Rural Reach</a:t>
            </a:r>
          </a:p>
          <a:p>
            <a:pPr>
              <a:defRPr sz="800">
                <a:solidFill>
                  <a:srgbClr val="475569"/>
                </a:solidFill>
                <a:latin typeface="Google Sans Flex"/>
              </a:defRPr>
            </a:pPr>
            <a:r>
              <a:t>• Expand beyond Telegram to Facebook Messenger &amp; TikTok bots (Cambodia's dominant rural social channels).</a:t>
            </a:r>
          </a:p>
          <a:p>
            <a:pPr>
              <a:defRPr sz="800">
                <a:solidFill>
                  <a:srgbClr val="475569"/>
                </a:solidFill>
                <a:latin typeface="Google Sans Flex"/>
              </a:defRPr>
            </a:pPr>
            <a:r>
              <a:t>• Deploy localized month-aware crop calendars and planting-date auto-onboarding.</a:t>
            </a:r>
          </a:p>
          <a:p>
            <a:pPr>
              <a:defRPr sz="800">
                <a:solidFill>
                  <a:srgbClr val="475569"/>
                </a:solidFill>
                <a:latin typeface="Google Sans Flex"/>
              </a:defRPr>
            </a:pPr>
            <a:r>
              <a:t>• Establish direct audio relay partnerships with community FM radio &amp; village speaker networks.</a:t>
            </a:r>
          </a:p>
        </p:txBody>
      </p:sp>
      <p:sp>
        <p:nvSpPr>
          <p:cNvPr id="153" name="Rounded Rectangle 152"/>
          <p:cNvSpPr/>
          <p:nvPr/>
        </p:nvSpPr>
        <p:spPr>
          <a:xfrm>
            <a:off x="3218688" y="1188720"/>
            <a:ext cx="2706624" cy="32918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73152"/>
          <a:lstStyle/>
          <a:p>
            <a:pPr algn="ctr">
              <a:defRPr sz="1000" b="1">
                <a:solidFill>
                  <a:srgbClr val="213A63"/>
                </a:solidFill>
                <a:latin typeface="Google Sans Flex"/>
              </a:defRPr>
            </a:pPr>
            <a:r>
              <a:t>Phase 3: B2B Agro-Enterprise</a:t>
            </a:r>
          </a:p>
          <a:p>
            <a:pPr>
              <a:defRPr sz="800">
                <a:solidFill>
                  <a:srgbClr val="475569"/>
                </a:solidFill>
                <a:latin typeface="Google Sans Flex"/>
              </a:defRPr>
            </a:pPr>
            <a:r>
              <a:t>• Agricultural Co-op Scheduling: Combine harvester dispatch feeds for large exporters (e.g., AMRU Rice).</a:t>
            </a:r>
          </a:p>
          <a:p>
            <a:pPr>
              <a:defRPr sz="800">
                <a:solidFill>
                  <a:srgbClr val="475569"/>
                </a:solidFill>
                <a:latin typeface="Google Sans Flex"/>
              </a:defRPr>
            </a:pPr>
            <a:r>
              <a:t>• MFI Climate Risk API: Anticipatory portfolio underwriting for microfinance lenders (Amret, Sathapana, Prasac).</a:t>
            </a:r>
          </a:p>
          <a:p>
            <a:pPr>
              <a:defRPr sz="800">
                <a:solidFill>
                  <a:srgbClr val="475569"/>
                </a:solidFill>
                <a:latin typeface="Google Sans Flex"/>
              </a:defRPr>
            </a:pPr>
            <a:r>
              <a:t>• Paddy Price Fairness: Integrate Cambodia Rice Federation (CRF) price feeds to prevent buyer distress discounting.</a:t>
            </a:r>
          </a:p>
        </p:txBody>
      </p:sp>
      <p:sp>
        <p:nvSpPr>
          <p:cNvPr id="154" name="Rounded Rectangle 153"/>
          <p:cNvSpPr/>
          <p:nvPr/>
        </p:nvSpPr>
        <p:spPr>
          <a:xfrm>
            <a:off x="6117336" y="1188720"/>
            <a:ext cx="2706624" cy="32918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73152"/>
          <a:lstStyle/>
          <a:p>
            <a:pPr algn="ctr">
              <a:defRPr sz="1000" b="1">
                <a:solidFill>
                  <a:srgbClr val="213A63"/>
                </a:solidFill>
                <a:latin typeface="Google Sans Flex"/>
              </a:defRPr>
            </a:pPr>
            <a:r>
              <a:t>Institutional Disaster Integration</a:t>
            </a:r>
          </a:p>
          <a:p>
            <a:pPr>
              <a:defRPr sz="800">
                <a:solidFill>
                  <a:srgbClr val="475569"/>
                </a:solidFill>
                <a:latin typeface="Google Sans Flex"/>
              </a:defRPr>
            </a:pPr>
            <a:r>
              <a:t>• Bi-directional sync with National Committee for Disaster Management (NCDM) PRISM system.</a:t>
            </a:r>
          </a:p>
          <a:p>
            <a:pPr>
              <a:defRPr sz="800">
                <a:solidFill>
                  <a:srgbClr val="475569"/>
                </a:solidFill>
                <a:latin typeface="Google Sans Flex"/>
              </a:defRPr>
            </a:pPr>
            <a:r>
              <a:t>• Integration with UN World Food Programme (WFP) anticipatory humanitarian action protocols.</a:t>
            </a:r>
          </a:p>
          <a:p>
            <a:pPr>
              <a:defRPr sz="800">
                <a:solidFill>
                  <a:srgbClr val="475569"/>
                </a:solidFill>
                <a:latin typeface="Google Sans Flex"/>
              </a:defRPr>
            </a:pPr>
            <a:r>
              <a:t>• Formal technical data-sharing agreements with the Mekong River Commission (MRC) Secretariat.</a:t>
            </a: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pic>
        <p:nvPicPr>
          <p:cNvPr id="156" name="Google Shape;156;p26"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57" name="Google Shape;157;p2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8" name="Google Shape;158;p26"/>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9" name="Google Shape;159;p26"/>
          <p:cNvSpPr txBox="1"/>
          <p:nvPr/>
        </p:nvSpPr>
        <p:spPr>
          <a:xfrm>
            <a:off x="265350" y="663825"/>
            <a:ext cx="8943000" cy="133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Provide links to your:</a:t>
            </a:r>
            <a:endParaRPr sz="1600">
              <a:latin typeface="Google Sans Flex Medium"/>
              <a:ea typeface="Google Sans Flex Medium"/>
              <a:cs typeface="Google Sans Flex Medium"/>
              <a:sym typeface="Google Sans Flex Medium"/>
            </a:endParaRPr>
          </a:p>
          <a:p>
            <a:pPr indent="0" lvl="0" marL="0" rtl="0" algn="l">
              <a:spcBef>
                <a:spcPts val="0"/>
              </a:spcBef>
              <a:spcAft>
                <a:spcPts val="0"/>
              </a:spcAft>
              <a:buNone/>
            </a:pPr>
            <a:r>
              <a:t/>
            </a:r>
            <a:endParaRPr sz="1600">
              <a:latin typeface="Google Sans Flex Medium"/>
              <a:ea typeface="Google Sans Flex Medium"/>
              <a:cs typeface="Google Sans Flex Medium"/>
              <a:sym typeface="Google Sans Flex Medium"/>
            </a:endParaRPr>
          </a:p>
          <a:p>
            <a:pPr indent="-317500" lvl="0" marL="457200" rtl="0" algn="l">
              <a:spcBef>
                <a:spcPts val="0"/>
              </a:spcBef>
              <a:spcAft>
                <a:spcPts val="0"/>
              </a:spcAft>
              <a:buSzPts val="1400"/>
              <a:buFont typeface="Google Sans Flex Medium"/>
              <a:buChar char="●"/>
            </a:pPr>
            <a:r>
              <a:rPr lang="en-GB">
                <a:latin typeface="Google Sans Flex Medium"/>
                <a:ea typeface="Google Sans Flex Medium"/>
                <a:cs typeface="Google Sans Flex Medium"/>
                <a:sym typeface="Google Sans Flex Medium"/>
              </a:rPr>
              <a:t>GitHub Public Repository</a:t>
            </a:r>
            <a:endParaRPr>
              <a:latin typeface="Google Sans Flex Medium"/>
              <a:ea typeface="Google Sans Flex Medium"/>
              <a:cs typeface="Google Sans Flex Medium"/>
              <a:sym typeface="Google Sans Flex Medium"/>
            </a:endParaRPr>
          </a:p>
          <a:p>
            <a:pPr indent="-317500" lvl="0" marL="457200" rtl="0" algn="l">
              <a:spcBef>
                <a:spcPts val="0"/>
              </a:spcBef>
              <a:spcAft>
                <a:spcPts val="0"/>
              </a:spcAft>
              <a:buSzPts val="1400"/>
              <a:buFont typeface="Google Sans Flex Medium"/>
              <a:buChar char="●"/>
            </a:pPr>
            <a:r>
              <a:rPr lang="en-GB">
                <a:latin typeface="Google Sans Flex Medium"/>
                <a:ea typeface="Google Sans Flex Medium"/>
                <a:cs typeface="Google Sans Flex Medium"/>
                <a:sym typeface="Google Sans Flex Medium"/>
              </a:rPr>
              <a:t>Demo Video Link (3 Minutes)</a:t>
            </a:r>
            <a:endParaRPr>
              <a:latin typeface="Google Sans Flex Medium"/>
              <a:ea typeface="Google Sans Flex Medium"/>
              <a:cs typeface="Google Sans Flex Medium"/>
              <a:sym typeface="Google Sans Flex Medium"/>
            </a:endParaRPr>
          </a:p>
          <a:p>
            <a:pPr indent="-317500" lvl="0" marL="457200" rtl="0" algn="l">
              <a:spcBef>
                <a:spcPts val="0"/>
              </a:spcBef>
              <a:spcAft>
                <a:spcPts val="0"/>
              </a:spcAft>
              <a:buSzPts val="1400"/>
              <a:buFont typeface="Google Sans Flex Medium"/>
              <a:buChar char="●"/>
            </a:pPr>
            <a:r>
              <a:rPr lang="en-GB">
                <a:latin typeface="Google Sans Flex Medium"/>
                <a:ea typeface="Google Sans Flex Medium"/>
                <a:cs typeface="Google Sans Flex Medium"/>
                <a:sym typeface="Google Sans Flex Medium"/>
              </a:rPr>
              <a:t>Final Product Link</a:t>
            </a:r>
            <a:endParaRPr>
              <a:latin typeface="Google Sans Flex Medium"/>
              <a:ea typeface="Google Sans Flex Medium"/>
              <a:cs typeface="Google Sans Flex Medium"/>
              <a:sym typeface="Google Sans Flex Medium"/>
            </a:endParaRPr>
          </a:p>
          <a:p>
            <a:pPr indent="0" lvl="0" marL="0" rtl="0" algn="l">
              <a:spcBef>
                <a:spcPts val="0"/>
              </a:spcBef>
              <a:spcAft>
                <a:spcPts val="0"/>
              </a:spcAft>
              <a:buNone/>
            </a:pPr>
            <a:r>
              <a:t/>
            </a:r>
            <a:endParaRPr sz="1600">
              <a:latin typeface="Google Sans Flex Medium"/>
              <a:ea typeface="Google Sans Flex Medium"/>
              <a:cs typeface="Google Sans Flex Medium"/>
              <a:sym typeface="Google Sans Flex Medium"/>
            </a:endParaRPr>
          </a:p>
        </p:txBody>
      </p:sp>
      <p:sp>
        <p:nvSpPr>
          <p:cNvPr id="160" name="Rounded Rectangle 159"/>
          <p:cNvSpPr/>
          <p:nvPr/>
        </p:nvSpPr>
        <p:spPr>
          <a:xfrm>
            <a:off x="320040" y="1188720"/>
            <a:ext cx="2706624" cy="32918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73152"/>
          <a:lstStyle/>
          <a:p>
            <a:pPr algn="ctr">
              <a:defRPr sz="1000" b="1">
                <a:solidFill>
                  <a:srgbClr val="0284C7"/>
                </a:solidFill>
                <a:latin typeface="Google Sans Flex"/>
              </a:defRPr>
            </a:pPr>
            <a:r>
              <a:t>GitHub Public Repository</a:t>
            </a:r>
          </a:p>
          <a:p>
            <a:pPr>
              <a:defRPr sz="800">
                <a:solidFill>
                  <a:srgbClr val="475569"/>
                </a:solidFill>
                <a:latin typeface="Google Sans Flex"/>
              </a:defRPr>
            </a:pPr>
            <a:r>
              <a:t>• URL: https://github.com/SunchhayK/mekongpulse</a:t>
            </a:r>
          </a:p>
          <a:p>
            <a:pPr>
              <a:defRPr sz="800">
                <a:solidFill>
                  <a:srgbClr val="475569"/>
                </a:solidFill>
                <a:latin typeface="Google Sans Flex"/>
              </a:defRPr>
            </a:pPr>
            <a:r>
              <a:t>• Clean architecture: uv Python workspace with shared engine, FastAPI backend, Telegram bot, and Next.js 14 web.</a:t>
            </a:r>
          </a:p>
          <a:p>
            <a:pPr>
              <a:defRPr sz="800">
                <a:solidFill>
                  <a:srgbClr val="475569"/>
                </a:solidFill>
                <a:latin typeface="Google Sans Flex"/>
              </a:defRPr>
            </a:pPr>
            <a:r>
              <a:t>• 267 automated tests passing (100% green).</a:t>
            </a:r>
          </a:p>
          <a:p>
            <a:pPr>
              <a:defRPr sz="800">
                <a:solidFill>
                  <a:srgbClr val="475569"/>
                </a:solidFill>
                <a:latin typeface="Google Sans Flex"/>
              </a:defRPr>
            </a:pPr>
            <a:r>
              <a:t>• Comprehensive technical report, PRD, and ADRs included.</a:t>
            </a:r>
          </a:p>
        </p:txBody>
      </p:sp>
      <p:sp>
        <p:nvSpPr>
          <p:cNvPr id="161" name="Rounded Rectangle 160"/>
          <p:cNvSpPr/>
          <p:nvPr/>
        </p:nvSpPr>
        <p:spPr>
          <a:xfrm>
            <a:off x="3218688" y="1188720"/>
            <a:ext cx="2706624" cy="32918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73152"/>
          <a:lstStyle/>
          <a:p>
            <a:pPr algn="ctr">
              <a:defRPr sz="1000" b="1">
                <a:solidFill>
                  <a:srgbClr val="0284C7"/>
                </a:solidFill>
                <a:latin typeface="Google Sans Flex"/>
              </a:defRPr>
            </a:pPr>
            <a:r>
              <a:t>Live Web Application Console</a:t>
            </a:r>
          </a:p>
          <a:p>
            <a:pPr>
              <a:defRPr sz="800">
                <a:solidFill>
                  <a:srgbClr val="475569"/>
                </a:solidFill>
                <a:latin typeface="Google Sans Flex"/>
              </a:defRPr>
            </a:pPr>
            <a:r>
              <a:t>• URL: https://ai-builder-cup-9f8cd.web.app</a:t>
            </a:r>
          </a:p>
          <a:p>
            <a:pPr>
              <a:defRPr sz="800">
                <a:solidFill>
                  <a:srgbClr val="475569"/>
                </a:solidFill>
                <a:latin typeface="Google Sans Flex"/>
              </a:defRPr>
            </a:pPr>
            <a:r>
              <a:t>• Firebase Hosting static export deployment.</a:t>
            </a:r>
          </a:p>
          <a:p>
            <a:pPr>
              <a:defRPr sz="800">
                <a:solidFill>
                  <a:srgbClr val="475569"/>
                </a:solidFill>
                <a:latin typeface="Google Sans Flex"/>
              </a:defRPr>
            </a:pPr>
            <a:r>
              <a:t>• Khmer-first i18n routing with interactive basin risk map, hydrographs, and printable status summaries.</a:t>
            </a:r>
          </a:p>
          <a:p>
            <a:pPr>
              <a:defRPr sz="800">
                <a:solidFill>
                  <a:srgbClr val="475569"/>
                </a:solidFill>
                <a:latin typeface="Google Sans Flex"/>
              </a:defRPr>
            </a:pPr>
            <a:r>
              <a:t>• AI Officer Assistant portal: https://ai-builder-cup-9f8cd.web.app/en/assistant</a:t>
            </a:r>
          </a:p>
        </p:txBody>
      </p:sp>
      <p:sp>
        <p:nvSpPr>
          <p:cNvPr id="162" name="Rounded Rectangle 161"/>
          <p:cNvSpPr/>
          <p:nvPr/>
        </p:nvSpPr>
        <p:spPr>
          <a:xfrm>
            <a:off x="6117336" y="1188720"/>
            <a:ext cx="2706624" cy="32918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73152"/>
          <a:lstStyle/>
          <a:p>
            <a:pPr algn="ctr">
              <a:defRPr sz="1000" b="1">
                <a:solidFill>
                  <a:srgbClr val="0284C7"/>
                </a:solidFill>
                <a:latin typeface="Google Sans Flex"/>
              </a:defRPr>
            </a:pPr>
            <a:r>
              <a:t>Telegram Bot &amp; API Gateway</a:t>
            </a:r>
          </a:p>
          <a:p>
            <a:pPr>
              <a:defRPr sz="800">
                <a:solidFill>
                  <a:srgbClr val="475569"/>
                </a:solidFill>
                <a:latin typeface="Google Sans Flex"/>
              </a:defRPr>
            </a:pPr>
            <a:r>
              <a:t>• Telegram Bot: @MekongPulseBot</a:t>
            </a:r>
          </a:p>
          <a:p>
            <a:pPr>
              <a:defRPr sz="800">
                <a:solidFill>
                  <a:srgbClr val="475569"/>
                </a:solidFill>
                <a:latin typeface="Google Sans Flex"/>
              </a:defRPr>
            </a:pPr>
            <a:r>
              <a:t>• Automated Sentinel broadcast alerts and GPS pin risk evaluations.</a:t>
            </a:r>
          </a:p>
          <a:p>
            <a:pPr>
              <a:defRPr sz="800">
                <a:solidFill>
                  <a:srgbClr val="475569"/>
                </a:solidFill>
                <a:latin typeface="Google Sans Flex"/>
              </a:defRPr>
            </a:pPr>
            <a:r>
              <a:t>• Self-Hosted API Gateway: https://mekongpulse-api.labyrinth.buzz</a:t>
            </a:r>
          </a:p>
          <a:p>
            <a:pPr>
              <a:defRPr sz="800">
                <a:solidFill>
                  <a:srgbClr val="475569"/>
                </a:solidFill>
                <a:latin typeface="Google Sans Flex"/>
              </a:defRPr>
            </a:pPr>
            <a:r>
              <a:t>• Cloud Run deployment script: ./projects/scripts/deploy_gcp.sh</a:t>
            </a: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pic>
        <p:nvPicPr>
          <p:cNvPr id="164" name="Google Shape;164;p27"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65" name="Google Shape;165;p27"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66" name="Google Shape;166;p27"/>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pic>
        <p:nvPicPr>
          <p:cNvPr id="171" name="Google Shape;171;p28"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72" name="Google Shape;172;p28" title="Frame 145.png"/>
          <p:cNvPicPr preferRelativeResize="0"/>
          <p:nvPr/>
        </p:nvPicPr>
        <p:blipFill>
          <a:blip r:embed="rId4">
            <a:alphaModFix/>
          </a:blip>
          <a:stretch>
            <a:fillRect/>
          </a:stretch>
        </p:blipFill>
        <p:spPr>
          <a:xfrm>
            <a:off x="0" y="0"/>
            <a:ext cx="9144000" cy="514351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